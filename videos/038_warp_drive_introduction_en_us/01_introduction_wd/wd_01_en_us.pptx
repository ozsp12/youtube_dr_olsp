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74" r:id="rId4"/>
    <p:sldId id="273" r:id="rId5"/>
    <p:sldId id="257" r:id="rId6"/>
    <p:sldId id="266" r:id="rId7"/>
    <p:sldId id="270" r:id="rId8"/>
    <p:sldId id="262" r:id="rId9"/>
    <p:sldId id="261" r:id="rId10"/>
    <p:sldId id="272" r:id="rId11"/>
  </p:sldIdLst>
  <p:sldSz cx="14630400" cy="8229600"/>
  <p:notesSz cx="8229600" cy="14630400"/>
  <p:embeddedFontLst>
    <p:embeddedFont>
      <p:font typeface="Cambria Math" panose="02040503050406030204" pitchFamily="18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Medium" panose="02000000000000000000" pitchFamily="2" charset="0"/>
      <p:regular r:id="rId18"/>
      <p:italic r:id="rId19"/>
    </p:embeddedFont>
    <p:embeddedFont>
      <p:font typeface="Source Sans Pro" panose="020B0503030403020204" pitchFamily="34" charset="0"/>
      <p:regular r:id="rId20"/>
      <p:bold r:id="rId21"/>
      <p:italic r:id="rId22"/>
      <p:boldItalic r:id="rId2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5B14FA-8F85-457B-9703-E44AAB806ADC}" v="11" dt="2025-07-25T00:01:24.921"/>
    <p1510:client id="{D4D05417-0FFD-4E99-9F2F-09FCB901FCED}" v="227" dt="2025-07-24T23:49:44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8" y="30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4D05417-0FFD-4E99-9F2F-09FCB901FCED}"/>
    <pc:docChg chg="undo custSel addSld delSld modSld sldOrd">
      <pc:chgData name="Osvaldo Luiz Santos Pereira" userId="c308351cf5a860c7" providerId="LiveId" clId="{D4D05417-0FFD-4E99-9F2F-09FCB901FCED}" dt="2025-07-24T23:49:44.725" v="229"/>
      <pc:docMkLst>
        <pc:docMk/>
      </pc:docMkLst>
      <pc:sldChg chg="modTransition">
        <pc:chgData name="Osvaldo Luiz Santos Pereira" userId="c308351cf5a860c7" providerId="LiveId" clId="{D4D05417-0FFD-4E99-9F2F-09FCB901FCED}" dt="2025-07-24T23:29:10.231" v="39"/>
        <pc:sldMkLst>
          <pc:docMk/>
          <pc:sldMk cId="0" sldId="256"/>
        </pc:sldMkLst>
      </pc:sldChg>
      <pc:sldChg chg="modTransition">
        <pc:chgData name="Osvaldo Luiz Santos Pereira" userId="c308351cf5a860c7" providerId="LiveId" clId="{D4D05417-0FFD-4E99-9F2F-09FCB901FCED}" dt="2025-07-24T23:43:42.327" v="113"/>
        <pc:sldMkLst>
          <pc:docMk/>
          <pc:sldMk cId="0" sldId="257"/>
        </pc:sldMkLst>
      </pc:sldChg>
      <pc:sldChg chg="ord modTransition">
        <pc:chgData name="Osvaldo Luiz Santos Pereira" userId="c308351cf5a860c7" providerId="LiveId" clId="{D4D05417-0FFD-4E99-9F2F-09FCB901FCED}" dt="2025-07-24T23:46:35.531" v="183"/>
        <pc:sldMkLst>
          <pc:docMk/>
          <pc:sldMk cId="0" sldId="261"/>
        </pc:sldMkLst>
      </pc:sldChg>
      <pc:sldChg chg="modTransition">
        <pc:chgData name="Osvaldo Luiz Santos Pereira" userId="c308351cf5a860c7" providerId="LiveId" clId="{D4D05417-0FFD-4E99-9F2F-09FCB901FCED}" dt="2025-07-24T23:49:15.042" v="217"/>
        <pc:sldMkLst>
          <pc:docMk/>
          <pc:sldMk cId="0" sldId="262"/>
        </pc:sldMkLst>
      </pc:sldChg>
      <pc:sldChg chg="modTransition">
        <pc:chgData name="Osvaldo Luiz Santos Pereira" userId="c308351cf5a860c7" providerId="LiveId" clId="{D4D05417-0FFD-4E99-9F2F-09FCB901FCED}" dt="2025-07-24T23:43:49.792" v="130"/>
        <pc:sldMkLst>
          <pc:docMk/>
          <pc:sldMk cId="1241393305" sldId="266"/>
        </pc:sldMkLst>
      </pc:sldChg>
      <pc:sldChg chg="modTransition">
        <pc:chgData name="Osvaldo Luiz Santos Pereira" userId="c308351cf5a860c7" providerId="LiveId" clId="{D4D05417-0FFD-4E99-9F2F-09FCB901FCED}" dt="2025-07-24T23:31:29.387" v="44"/>
        <pc:sldMkLst>
          <pc:docMk/>
          <pc:sldMk cId="2582722022" sldId="269"/>
        </pc:sldMkLst>
      </pc:sldChg>
      <pc:sldChg chg="modTransition">
        <pc:chgData name="Osvaldo Luiz Santos Pereira" userId="c308351cf5a860c7" providerId="LiveId" clId="{D4D05417-0FFD-4E99-9F2F-09FCB901FCED}" dt="2025-07-24T23:49:22.739" v="227"/>
        <pc:sldMkLst>
          <pc:docMk/>
          <pc:sldMk cId="2320279716" sldId="270"/>
        </pc:sldMkLst>
      </pc:sldChg>
      <pc:sldChg chg="add del">
        <pc:chgData name="Osvaldo Luiz Santos Pereira" userId="c308351cf5a860c7" providerId="LiveId" clId="{D4D05417-0FFD-4E99-9F2F-09FCB901FCED}" dt="2025-07-24T23:28:37.167" v="35" actId="47"/>
        <pc:sldMkLst>
          <pc:docMk/>
          <pc:sldMk cId="1764655046" sldId="271"/>
        </pc:sldMkLst>
      </pc:sldChg>
      <pc:sldChg chg="modTransition">
        <pc:chgData name="Osvaldo Luiz Santos Pereira" userId="c308351cf5a860c7" providerId="LiveId" clId="{D4D05417-0FFD-4E99-9F2F-09FCB901FCED}" dt="2025-07-24T23:49:44.725" v="229"/>
        <pc:sldMkLst>
          <pc:docMk/>
          <pc:sldMk cId="2474270152" sldId="272"/>
        </pc:sldMkLst>
      </pc:sldChg>
      <pc:sldChg chg="add del">
        <pc:chgData name="Osvaldo Luiz Santos Pereira" userId="c308351cf5a860c7" providerId="LiveId" clId="{D4D05417-0FFD-4E99-9F2F-09FCB901FCED}" dt="2025-07-24T23:20:09.491" v="16"/>
        <pc:sldMkLst>
          <pc:docMk/>
          <pc:sldMk cId="2363970585" sldId="273"/>
        </pc:sldMkLst>
      </pc:sldChg>
      <pc:sldChg chg="add del modTransition">
        <pc:chgData name="Osvaldo Luiz Santos Pereira" userId="c308351cf5a860c7" providerId="LiveId" clId="{D4D05417-0FFD-4E99-9F2F-09FCB901FCED}" dt="2025-07-24T23:42:54.511" v="76"/>
        <pc:sldMkLst>
          <pc:docMk/>
          <pc:sldMk cId="4057665784" sldId="273"/>
        </pc:sldMkLst>
      </pc:sldChg>
      <pc:sldChg chg="addSp delSp add del modTransition">
        <pc:chgData name="Osvaldo Luiz Santos Pereira" userId="c308351cf5a860c7" providerId="LiveId" clId="{D4D05417-0FFD-4E99-9F2F-09FCB901FCED}" dt="2025-07-24T23:43:04.121" v="81"/>
        <pc:sldMkLst>
          <pc:docMk/>
          <pc:sldMk cId="3190933223" sldId="274"/>
        </pc:sldMkLst>
        <pc:picChg chg="add">
          <ac:chgData name="Osvaldo Luiz Santos Pereira" userId="c308351cf5a860c7" providerId="LiveId" clId="{D4D05417-0FFD-4E99-9F2F-09FCB901FCED}" dt="2025-07-24T23:27:09.905" v="22"/>
          <ac:picMkLst>
            <pc:docMk/>
            <pc:sldMk cId="3190933223" sldId="274"/>
            <ac:picMk id="1026" creationId="{43FFCF56-5D33-3DD6-7D16-AEDA3C8AF22F}"/>
          </ac:picMkLst>
        </pc:picChg>
        <pc:picChg chg="add del">
          <ac:chgData name="Osvaldo Luiz Santos Pereira" userId="c308351cf5a860c7" providerId="LiveId" clId="{D4D05417-0FFD-4E99-9F2F-09FCB901FCED}" dt="2025-07-24T23:28:32.197" v="34" actId="478"/>
          <ac:picMkLst>
            <pc:docMk/>
            <pc:sldMk cId="3190933223" sldId="274"/>
            <ac:picMk id="7170" creationId="{C0C050C6-3511-6391-65A0-24DC854E5F27}"/>
          </ac:picMkLst>
        </pc:picChg>
      </pc:sldChg>
      <pc:sldChg chg="add del">
        <pc:chgData name="Osvaldo Luiz Santos Pereira" userId="c308351cf5a860c7" providerId="LiveId" clId="{D4D05417-0FFD-4E99-9F2F-09FCB901FCED}" dt="2025-07-24T23:27:01.042" v="21"/>
        <pc:sldMkLst>
          <pc:docMk/>
          <pc:sldMk cId="2240957481" sldId="275"/>
        </pc:sldMkLst>
      </pc:sldChg>
    </pc:docChg>
  </pc:docChgLst>
  <pc:docChgLst>
    <pc:chgData name="Osvaldo Luiz Santos Pereira" userId="c308351cf5a860c7" providerId="LiveId" clId="{875B14FA-8F85-457B-9703-E44AAB806ADC}"/>
    <pc:docChg chg="modSld">
      <pc:chgData name="Osvaldo Luiz Santos Pereira" userId="c308351cf5a860c7" providerId="LiveId" clId="{875B14FA-8F85-457B-9703-E44AAB806ADC}" dt="2025-07-25T00:01:24.921" v="10"/>
      <pc:docMkLst>
        <pc:docMk/>
      </pc:docMkLst>
      <pc:sldChg chg="modTransition">
        <pc:chgData name="Osvaldo Luiz Santos Pereira" userId="c308351cf5a860c7" providerId="LiveId" clId="{875B14FA-8F85-457B-9703-E44AAB806ADC}" dt="2025-07-25T00:01:24.921" v="10"/>
        <pc:sldMkLst>
          <pc:docMk/>
          <pc:sldMk cId="0" sldId="256"/>
        </pc:sldMkLst>
      </pc:sldChg>
      <pc:sldChg chg="modTransition">
        <pc:chgData name="Osvaldo Luiz Santos Pereira" userId="c308351cf5a860c7" providerId="LiveId" clId="{875B14FA-8F85-457B-9703-E44AAB806ADC}" dt="2025-07-25T00:00:02.514" v="9"/>
        <pc:sldMkLst>
          <pc:docMk/>
          <pc:sldMk cId="2582722022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52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C39E2-2887-E717-14D6-CA72A6B4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6E112-9315-B90C-1A77-E2432E53E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08386-990B-7D0B-8FDB-89BFB7362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CC4BE-C19D-1EA1-B829-63318AE7B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51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207B-31F4-81AC-E873-0662455F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12D37-A34F-2A38-6DBD-C72FAB7CB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49507-3319-9518-A291-02202224C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3ECD2-00A3-3358-76FD-7C0E0037B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86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00557-0911-3210-BF8B-EC0D5ABF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29EE0-FEF7-47E4-AB7E-C2109914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08707-CC85-439E-0F4A-27C35D39F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7CEAC-9B1F-230D-72BD-29BAD54DA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93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FEF-989F-9FEA-4FD8-94CC2530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91671-F113-E008-3B15-A57975991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51809-0701-103B-8BDE-4B5146F12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26B9-7E37-DE9B-E1C1-DD972FC74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70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079D-211E-7167-139C-4E745138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BC02A-8222-C69A-2D7E-C97AF5682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B4117-78AC-E6DA-3B80-E09C5E84C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0A3F8-714A-72D7-C5E5-C9D4EAA0E9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56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3D09-1294-92CB-63A1-93A2B72E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78E5E-E95C-5573-8A7B-DD898AAB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38118-0B0A-FD01-2BF9-FE2854C17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FC1D0-9EB1-6676-9FAC-5B5256BA0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8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gr-qc/0009013" TargetMode="External"/><Relationship Id="rId4" Type="http://schemas.openxmlformats.org/officeDocument/2006/relationships/hyperlink" Target="https://arxiv.org/ct?url=http://dx.doi.org/10.1088/0264-9381/11/5/001&amp;v=9a87c2e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4288" y="221355"/>
            <a:ext cx="14070785" cy="72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Alcubierre Warp Drive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314288" y="1550020"/>
            <a:ext cx="5885790" cy="387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Miguel Alcubierre, in 1994, proposed warp drive</a:t>
            </a:r>
          </a:p>
          <a:p>
            <a:pPr marL="342900" indent="-342900" algn="l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Faster-than-light propulsion  mechanism</a:t>
            </a: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Spaceship inside a warp bubble</a:t>
            </a: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Expansion and contraction of spacetime</a:t>
            </a: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FD0D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Inside the bubble no Special Relativity violation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C4234F-A56D-D2EC-D9A2-7395E6B71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857" y="1397619"/>
            <a:ext cx="7906216" cy="527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9">
            <a:extLst>
              <a:ext uri="{FF2B5EF4-FFF2-40B4-BE49-F238E27FC236}">
                <a16:creationId xmlns:a16="http://schemas.microsoft.com/office/drawing/2014/main" id="{CD9006C1-E993-FA08-CE1C-B433FC49F4D3}"/>
              </a:ext>
            </a:extLst>
          </p:cNvPr>
          <p:cNvSpPr/>
          <p:nvPr/>
        </p:nvSpPr>
        <p:spPr>
          <a:xfrm>
            <a:off x="34481" y="6517964"/>
            <a:ext cx="616559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Miguel Alcubierre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  <a:p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warp drive: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hyper</a:t>
            </a:r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-fast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travel</a:t>
            </a:r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within</a:t>
            </a:r>
            <a:r>
              <a:rPr lang="pt-BR" sz="20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general </a:t>
            </a:r>
            <a:r>
              <a:rPr lang="pt-BR" sz="20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relativity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  <a:p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Clas. Quant. Grav. vol. 11, L73-L77 (1994). </a:t>
            </a:r>
          </a:p>
          <a:p>
            <a:r>
              <a:rPr lang="pt-BR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doi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pt-BR" sz="2000" u="sng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10.1088/0264-9381/11/5/001</a:t>
            </a:r>
            <a:endParaRPr lang="pt-BR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pt-BR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arXiv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pt-BR" sz="2000" dirty="0" err="1">
                <a:solidFill>
                  <a:srgbClr val="0563C1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gr-qc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/0009013v1</a:t>
            </a:r>
            <a:r>
              <a:rPr lang="pt-BR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1F66518-FABB-15B7-757F-9A4D9DA66830}"/>
              </a:ext>
            </a:extLst>
          </p:cNvPr>
          <p:cNvSpPr/>
          <p:nvPr/>
        </p:nvSpPr>
        <p:spPr>
          <a:xfrm>
            <a:off x="200722" y="1397619"/>
            <a:ext cx="6165597" cy="45162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CD0B-B094-B001-3E13-67F731B0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7D3E01-2D47-9A9A-E20F-C9EA286CF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0"/>
            <a:ext cx="82296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722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3EE7A-7B7B-6905-7F13-3A0903B1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agem no Tempo Espacial">
            <a:extLst>
              <a:ext uri="{FF2B5EF4-FFF2-40B4-BE49-F238E27FC236}">
                <a16:creationId xmlns:a16="http://schemas.microsoft.com/office/drawing/2014/main" id="{43FFCF56-5D33-3DD6-7D16-AEDA3C8AF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0"/>
            <a:ext cx="82296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93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5000"/>
    </mc:Choice>
    <mc:Fallback xmlns="">
      <p:transition spd="slow" advClick="0" advTm="1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57E7-4DC2-B031-F47E-18F8213D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Nave Espacial no Continuum Quântico">
            <a:extLst>
              <a:ext uri="{FF2B5EF4-FFF2-40B4-BE49-F238E27FC236}">
                <a16:creationId xmlns:a16="http://schemas.microsoft.com/office/drawing/2014/main" id="{EC1ABCCE-1E76-56D4-A17A-03D7C8FD7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44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66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9000"/>
    </mc:Choice>
    <mc:Fallback xmlns="">
      <p:transition spd="slow" advClick="0" advTm="19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4287" y="1494264"/>
            <a:ext cx="5930395" cy="431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Spacetime Foliation</a:t>
            </a:r>
            <a:endParaRPr lang="en-US" sz="2000" dirty="0"/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ADM or 3+1 formalism to mathematically describe warp drive.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The formalism, also known as the ADM decomposition (named after physicists Richard </a:t>
            </a:r>
            <a:r>
              <a:rPr lang="en-US" sz="20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Arnowitt</a:t>
            </a:r>
            <a:r>
              <a:rPr lang="en-US" sz="2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, Stanley </a:t>
            </a:r>
            <a:r>
              <a:rPr lang="en-US" sz="2000" dirty="0" err="1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Deser</a:t>
            </a:r>
            <a:r>
              <a:rPr lang="en-US" sz="2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, and Charles Misner who developed it in the 1950s).</a:t>
            </a:r>
          </a:p>
          <a:p>
            <a:pPr>
              <a:lnSpc>
                <a:spcPts val="1800"/>
              </a:lnSpc>
            </a:pPr>
            <a:endParaRPr lang="en-US" sz="20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Einstein equations from partial differential equations into an initial value problem.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ts val="1800"/>
              </a:lnSpc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519832D6-9E97-998A-2C48-B35C75148B1D}"/>
              </a:ext>
            </a:extLst>
          </p:cNvPr>
          <p:cNvSpPr/>
          <p:nvPr/>
        </p:nvSpPr>
        <p:spPr>
          <a:xfrm>
            <a:off x="314288" y="221355"/>
            <a:ext cx="14070785" cy="72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 (3+1) Formalism</a:t>
            </a:r>
            <a:endParaRPr lang="en-US" sz="39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38FBB0-038C-64B3-54E5-9BC72C5AF4FB}"/>
              </a:ext>
            </a:extLst>
          </p:cNvPr>
          <p:cNvSpPr/>
          <p:nvPr/>
        </p:nvSpPr>
        <p:spPr>
          <a:xfrm>
            <a:off x="200722" y="1397619"/>
            <a:ext cx="6165597" cy="45162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122" name="Picture 2" descr="Ilustração de Curvatura no Espaço-Tempo">
            <a:extLst>
              <a:ext uri="{FF2B5EF4-FFF2-40B4-BE49-F238E27FC236}">
                <a16:creationId xmlns:a16="http://schemas.microsoft.com/office/drawing/2014/main" id="{BD062A1A-DC97-FDFD-0928-72FAA38B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884" y="1397619"/>
            <a:ext cx="8006575" cy="533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3097-CAFF-4473-FA3F-9D138664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D76DDAB-A7AB-15CA-4ADD-B0A8E991F09D}"/>
              </a:ext>
            </a:extLst>
          </p:cNvPr>
          <p:cNvSpPr/>
          <p:nvPr/>
        </p:nvSpPr>
        <p:spPr>
          <a:xfrm>
            <a:off x="793790" y="1987545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EF68B9-DB0F-53FF-5A9B-33FEB5E08CAD}"/>
              </a:ext>
            </a:extLst>
          </p:cNvPr>
          <p:cNvSpPr/>
          <p:nvPr/>
        </p:nvSpPr>
        <p:spPr>
          <a:xfrm>
            <a:off x="2603778" y="1712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F40BA33-0845-FCE9-C706-A202F7506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72" y="1861577"/>
            <a:ext cx="238125" cy="29765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393DA2F4-A72D-CE2C-5D3F-1F0F06631913}"/>
              </a:ext>
            </a:extLst>
          </p:cNvPr>
          <p:cNvSpPr/>
          <p:nvPr/>
        </p:nvSpPr>
        <p:spPr>
          <a:xfrm>
            <a:off x="1015008" y="2506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Lapse Function (α)</a:t>
            </a:r>
            <a:endParaRPr lang="en-US" sz="19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3D6A4BC7-CEC0-23BB-E54F-D0BB4DF8EE1D}"/>
                  </a:ext>
                </a:extLst>
              </p:cNvPr>
              <p:cNvSpPr/>
              <p:nvPr/>
            </p:nvSpPr>
            <p:spPr>
              <a:xfrm>
                <a:off x="1015008" y="2935759"/>
                <a:ext cx="3902680" cy="338698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2500"/>
                  </a:lnSpc>
                </a:pP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Measures the proper time between adjacent hypersurfaces. </a:t>
                </a:r>
                <a:r>
                  <a:rPr lang="en-US" sz="16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Mathematically,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pPr>
                      <m:e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p>
                    </m:sSup>
                    <m:r>
                      <a:rPr lang="pt-BR" sz="160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 the normal vector to a hypersurface, then </a:t>
                </a:r>
              </a:p>
              <a:p>
                <a:pPr>
                  <a:lnSpc>
                    <a:spcPts val="2500"/>
                  </a:lnSpc>
                </a:pPr>
                <a:endParaRPr 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𝛼</m:t>
                      </m:r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=</m:t>
                      </m:r>
                      <m:sSup>
                        <m:sSupPr>
                          <m:ctrlP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</m:ctrlPr>
                            </m:dPr>
                            <m:e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00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−1/2</m:t>
                          </m:r>
                        </m:sup>
                      </m:sSup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>
                  <a:lnSpc>
                    <a:spcPts val="2500"/>
                  </a:lnSpc>
                </a:pPr>
                <a:r>
                  <a:rPr lang="en-US" sz="155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The lapse function determines how coordinate time relates to proper time for observers moving orthogonally between hypersurfaces.</a:t>
                </a:r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3D6A4BC7-CEC0-23BB-E54F-D0BB4DF8E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08" y="2935759"/>
                <a:ext cx="3902680" cy="3386982"/>
              </a:xfrm>
              <a:prstGeom prst="rect">
                <a:avLst/>
              </a:prstGeom>
              <a:blipFill>
                <a:blip r:embed="rId4"/>
                <a:stretch>
                  <a:fillRect l="-3281" t="-180" r="-2969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8">
            <a:extLst>
              <a:ext uri="{FF2B5EF4-FFF2-40B4-BE49-F238E27FC236}">
                <a16:creationId xmlns:a16="http://schemas.microsoft.com/office/drawing/2014/main" id="{DF49C649-2096-CD87-D369-7E63D1D630BB}"/>
              </a:ext>
            </a:extLst>
          </p:cNvPr>
          <p:cNvSpPr/>
          <p:nvPr/>
        </p:nvSpPr>
        <p:spPr>
          <a:xfrm>
            <a:off x="5207437" y="1987545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3C225D8-FDBB-BAAC-9C18-4E8434C3B3DD}"/>
              </a:ext>
            </a:extLst>
          </p:cNvPr>
          <p:cNvSpPr/>
          <p:nvPr/>
        </p:nvSpPr>
        <p:spPr>
          <a:xfrm>
            <a:off x="7017425" y="1712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57966CE-A984-124D-FBCC-C8B85E298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018" y="1861577"/>
            <a:ext cx="238125" cy="297656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D861DC01-573C-EB3C-6454-163AFB60AC1A}"/>
              </a:ext>
            </a:extLst>
          </p:cNvPr>
          <p:cNvSpPr/>
          <p:nvPr/>
        </p:nvSpPr>
        <p:spPr>
          <a:xfrm>
            <a:off x="5428655" y="25065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Shift Vector (βᵢ)</a:t>
            </a:r>
            <a:endParaRPr lang="en-US" sz="1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A3D6825-5BF9-496E-839E-EF42232EE02E}"/>
              </a:ext>
            </a:extLst>
          </p:cNvPr>
          <p:cNvSpPr/>
          <p:nvPr/>
        </p:nvSpPr>
        <p:spPr>
          <a:xfrm>
            <a:off x="5428655" y="2935759"/>
            <a:ext cx="3772972" cy="289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Relates spatial coordinates between adjacent hypersurfaces. Represents the displacement of spatial coordinates as one moves between time slices.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Alcubierre metric, the shift vector is responsible for the "warping" effect that enables apparent superluminal motion.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1AC0F11-428F-5AE8-C1E2-516767EEEEA8}"/>
              </a:ext>
            </a:extLst>
          </p:cNvPr>
          <p:cNvSpPr/>
          <p:nvPr/>
        </p:nvSpPr>
        <p:spPr>
          <a:xfrm>
            <a:off x="9621203" y="1987545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282F60D-9B0D-02D4-EE6F-E408E5C18F84}"/>
              </a:ext>
            </a:extLst>
          </p:cNvPr>
          <p:cNvSpPr/>
          <p:nvPr/>
        </p:nvSpPr>
        <p:spPr>
          <a:xfrm>
            <a:off x="11431191" y="1712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79E79597-0238-7808-36F9-728F097B8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9784" y="1861577"/>
            <a:ext cx="238125" cy="2976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6">
                <a:extLst>
                  <a:ext uri="{FF2B5EF4-FFF2-40B4-BE49-F238E27FC236}">
                    <a16:creationId xmlns:a16="http://schemas.microsoft.com/office/drawing/2014/main" id="{F83F05D1-01CC-6165-D75B-8BBBA1CEC5D0}"/>
                  </a:ext>
                </a:extLst>
              </p:cNvPr>
              <p:cNvSpPr/>
              <p:nvPr/>
            </p:nvSpPr>
            <p:spPr>
              <a:xfrm>
                <a:off x="9842421" y="2506539"/>
                <a:ext cx="2480905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400"/>
                  </a:lnSpc>
                  <a:buNone/>
                </a:pPr>
                <a:r>
                  <a:rPr lang="en-US" sz="1950" dirty="0">
                    <a:solidFill>
                      <a:srgbClr val="CFD0D8"/>
                    </a:solidFill>
                    <a:latin typeface="Roboto Medium" pitchFamily="34" charset="0"/>
                    <a:ea typeface="Roboto Medium" pitchFamily="34" charset="-122"/>
                    <a:cs typeface="Roboto Medium" pitchFamily="34" charset="-120"/>
                  </a:rPr>
                  <a:t>Normal Vector </a:t>
                </a:r>
                <a14:m>
                  <m:oMath xmlns:m="http://schemas.openxmlformats.org/officeDocument/2006/math">
                    <m:r>
                      <a:rPr lang="pt-BR" sz="1950" b="0" i="0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(</m:t>
                    </m:r>
                    <m:sSup>
                      <m:sSupPr>
                        <m:ctrlPr>
                          <a:rPr lang="pt-BR" sz="19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pPr>
                      <m:e>
                        <m:r>
                          <a:rPr lang="pt-BR" sz="19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p>
                        <m:r>
                          <a:rPr lang="pt-BR" sz="19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p>
                    </m:sSup>
                    <m:r>
                      <a:rPr lang="pt-BR" sz="19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)</m:t>
                    </m:r>
                  </m:oMath>
                </a14:m>
                <a:endParaRPr lang="en-US" sz="1950" dirty="0"/>
              </a:p>
            </p:txBody>
          </p:sp>
        </mc:Choice>
        <mc:Fallback xmlns="">
          <p:sp>
            <p:nvSpPr>
              <p:cNvPr id="21" name="Text 16">
                <a:extLst>
                  <a:ext uri="{FF2B5EF4-FFF2-40B4-BE49-F238E27FC236}">
                    <a16:creationId xmlns:a16="http://schemas.microsoft.com/office/drawing/2014/main" id="{F83F05D1-01CC-6165-D75B-8BBBA1CEC5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421" y="2506539"/>
                <a:ext cx="2480905" cy="310158"/>
              </a:xfrm>
              <a:prstGeom prst="rect">
                <a:avLst/>
              </a:prstGeom>
              <a:blipFill>
                <a:blip r:embed="rId7"/>
                <a:stretch>
                  <a:fillRect l="-6143" t="-27451" b="-4313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EB883F7B-E81A-2864-667A-734F11240EB4}"/>
                  </a:ext>
                </a:extLst>
              </p:cNvPr>
              <p:cNvSpPr/>
              <p:nvPr/>
            </p:nvSpPr>
            <p:spPr>
              <a:xfrm>
                <a:off x="9842421" y="2935759"/>
                <a:ext cx="3772853" cy="29966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Unit timelike vector orthogonal to each hypersurface, defining the local time direction for Eulerian observers. </a:t>
                </a:r>
              </a:p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Mathematically expressed as</a:t>
                </a:r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</m:ctrlPr>
                        </m:sSupPr>
                        <m:e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𝑛</m:t>
                          </m:r>
                        </m:e>
                        <m:sup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𝜇</m:t>
                          </m:r>
                        </m:sup>
                      </m:sSup>
                      <m:r>
                        <a:rPr lang="pt-BR" sz="1600" b="0" i="1" smtClean="0">
                          <a:solidFill>
                            <a:srgbClr val="CFD0D8"/>
                          </a:solidFill>
                          <a:latin typeface="Cambria Math" panose="02040503050406030204" pitchFamily="18" charset="0"/>
                          <a:ea typeface="Roboto Medium" pitchFamily="34" charset="-122"/>
                          <a:cs typeface="Roboto Medium" pitchFamily="34" charset="-120"/>
                        </a:rPr>
                        <m:t>=</m:t>
                      </m:r>
                      <m:d>
                        <m:dPr>
                          <m:ctrlP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</m:ctrlPr>
                            </m:fPr>
                            <m:num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𝛼</m:t>
                              </m:r>
                            </m:den>
                          </m:f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, −</m:t>
                          </m:r>
                          <m:f>
                            <m:fPr>
                              <m:ctrlP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solidFill>
                                        <a:srgbClr val="CFD0D8"/>
                                      </a:solidFill>
                                      <a:latin typeface="Cambria Math" panose="02040503050406030204" pitchFamily="18" charset="0"/>
                                      <a:ea typeface="Roboto Medium" pitchFamily="34" charset="-122"/>
                                      <a:cs typeface="Roboto Medium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1600" b="0" i="1" smtClean="0">
                                  <a:solidFill>
                                    <a:srgbClr val="CFD0D8"/>
                                  </a:solidFill>
                                  <a:latin typeface="Cambria Math" panose="02040503050406030204" pitchFamily="18" charset="0"/>
                                  <a:ea typeface="Roboto Medium" pitchFamily="34" charset="-122"/>
                                  <a:cs typeface="Roboto Medium" pitchFamily="34" charset="-120"/>
                                </a:rPr>
                                <m:t>𝛼</m:t>
                              </m:r>
                            </m:den>
                          </m:f>
                          <m:r>
                            <a:rPr lang="pt-BR" sz="1600" b="0" i="1" smtClean="0">
                              <a:solidFill>
                                <a:srgbClr val="CFD0D8"/>
                              </a:solidFill>
                              <a:latin typeface="Cambria Math" panose="02040503050406030204" pitchFamily="18" charset="0"/>
                              <a:ea typeface="Roboto Medium" pitchFamily="34" charset="-122"/>
                              <a:cs typeface="Roboto Medium" pitchFamily="34" charset="-120"/>
                            </a:rPr>
                            <m:t>,0,0</m:t>
                          </m:r>
                        </m:e>
                      </m:d>
                    </m:oMath>
                  </m:oMathPara>
                </a14:m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500"/>
                  </a:lnSpc>
                </a:pPr>
                <a:endParaRPr lang="en-US" sz="1550" dirty="0">
                  <a:solidFill>
                    <a:srgbClr val="CFD0D8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500"/>
                  </a:lnSpc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it satisfies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pPr>
                      <m:e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p>
                    </m:sSup>
                    <m:sSub>
                      <m:sSubPr>
                        <m:ctrlP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𝑛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 Medium" pitchFamily="34" charset="-122"/>
                            <a:cs typeface="Roboto Medium" pitchFamily="34" charset="-120"/>
                          </a:rPr>
                          <m:t>𝜇</m:t>
                        </m:r>
                      </m:sub>
                    </m:sSub>
                    <m:r>
                      <a:rPr lang="pt-BR" sz="160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 Medium" pitchFamily="34" charset="-122"/>
                        <a:cs typeface="Roboto Medium" pitchFamily="34" charset="-120"/>
                      </a:rPr>
                      <m:t>=−1</m:t>
                    </m:r>
                  </m:oMath>
                </a14:m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and provides a reference frame for measuring physical quantities.</a:t>
                </a:r>
                <a:endParaRPr lang="en-US" sz="1550" dirty="0"/>
              </a:p>
              <a:p>
                <a:pPr marL="0" indent="0" algn="l">
                  <a:lnSpc>
                    <a:spcPts val="2500"/>
                  </a:lnSpc>
                  <a:buNone/>
                </a:pPr>
                <a:endParaRPr lang="en-US" sz="1550" dirty="0"/>
              </a:p>
            </p:txBody>
          </p:sp>
        </mc:Choice>
        <mc:Fallback xmlns=""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EB883F7B-E81A-2864-667A-734F11240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421" y="2935759"/>
                <a:ext cx="3772853" cy="2996690"/>
              </a:xfrm>
              <a:prstGeom prst="rect">
                <a:avLst/>
              </a:prstGeom>
              <a:blipFill>
                <a:blip r:embed="rId8"/>
                <a:stretch>
                  <a:fillRect l="-3236" t="-204" b="-8961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0">
            <a:extLst>
              <a:ext uri="{FF2B5EF4-FFF2-40B4-BE49-F238E27FC236}">
                <a16:creationId xmlns:a16="http://schemas.microsoft.com/office/drawing/2014/main" id="{63A14EE2-0253-6153-93AF-768A98097F61}"/>
              </a:ext>
            </a:extLst>
          </p:cNvPr>
          <p:cNvSpPr/>
          <p:nvPr/>
        </p:nvSpPr>
        <p:spPr>
          <a:xfrm>
            <a:off x="314288" y="221355"/>
            <a:ext cx="14070785" cy="72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Components of the ADM Formalism</a:t>
            </a: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124139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5000"/>
    </mc:Choice>
    <mc:Fallback xmlns="">
      <p:transition spd="slow" advClick="0" advTm="1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BDC90-1F64-18B0-0C0A-E01C834F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E9B5E3B5-EE2B-41B5-9C6D-61984832F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12344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27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0554"/>
            <a:ext cx="115516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Mathematical Structure of the Alcubierre Metric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47474"/>
            <a:ext cx="13042821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135650"/>
            <a:ext cx="31914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Metric Components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37060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lapse function: α = 1</a:t>
            </a:r>
            <a:endParaRPr lang="en-US" sz="1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/>
              <p:nvPr/>
            </p:nvSpPr>
            <p:spPr>
              <a:xfrm>
                <a:off x="793790" y="4093031"/>
                <a:ext cx="6279356" cy="3175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>
                  <a:lnSpc>
                    <a:spcPts val="2500"/>
                  </a:lnSpc>
                  <a:buSzPct val="100000"/>
                  <a:buChar char="•"/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Shift vector: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p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𝛽</m:t>
                        </m:r>
                      </m:e>
                      <m:sup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𝑖</m:t>
                        </m:r>
                      </m:sup>
                    </m:sSup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=(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𝛽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,0,0)</m:t>
                    </m:r>
                  </m:oMath>
                </a14:m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where </a:t>
                </a:r>
                <a14:m>
                  <m:oMath xmlns:m="http://schemas.openxmlformats.org/officeDocument/2006/math"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𝛽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=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𝑣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_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𝑠</m:t>
                    </m:r>
                    <m:d>
                      <m:d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d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𝑡</m:t>
                        </m:r>
                      </m:e>
                    </m:d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𝑓</m:t>
                    </m:r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[</m:t>
                    </m:r>
                    <m:sSub>
                      <m:sSub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b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𝑟</m:t>
                        </m:r>
                      </m:e>
                      <m:sub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𝑠</m:t>
                        </m:r>
                        <m:d>
                          <m:dPr>
                            <m:ctrlPr>
                              <a:rPr lang="pt-BR" sz="1550" b="0" i="1" smtClean="0">
                                <a:solidFill>
                                  <a:srgbClr val="CFD0D8"/>
                                </a:solidFill>
                                <a:latin typeface="Cambria Math" panose="02040503050406030204" pitchFamily="18" charset="0"/>
                                <a:ea typeface="Roboto" pitchFamily="34" charset="-122"/>
                                <a:cs typeface="Roboto" pitchFamily="34" charset="-120"/>
                              </a:rPr>
                            </m:ctrlPr>
                          </m:dPr>
                          <m:e>
                            <m:r>
                              <a:rPr lang="pt-BR" sz="1550" b="0" i="1" smtClean="0">
                                <a:solidFill>
                                  <a:srgbClr val="CFD0D8"/>
                                </a:solidFill>
                                <a:latin typeface="Cambria Math" panose="02040503050406030204" pitchFamily="18" charset="0"/>
                                <a:ea typeface="Roboto" pitchFamily="34" charset="-122"/>
                                <a:cs typeface="Roboto" pitchFamily="34" charset="-12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]</m:t>
                    </m:r>
                  </m:oMath>
                </a14:m>
                <a:endParaRPr lang="en-US" sz="1550" dirty="0"/>
              </a:p>
            </p:txBody>
          </p:sp>
        </mc:Choice>
        <mc:Fallback xmlns=""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4093031"/>
                <a:ext cx="6279356" cy="317540"/>
              </a:xfrm>
              <a:prstGeom prst="rect">
                <a:avLst/>
              </a:prstGeom>
              <a:blipFill>
                <a:blip r:embed="rId3"/>
                <a:stretch>
                  <a:fillRect l="-1845" t="-1887" b="-26415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5"/>
              <p:cNvSpPr/>
              <p:nvPr/>
            </p:nvSpPr>
            <p:spPr>
              <a:xfrm>
                <a:off x="793790" y="4479985"/>
                <a:ext cx="6279356" cy="3175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>
                  <a:lnSpc>
                    <a:spcPts val="2500"/>
                  </a:lnSpc>
                  <a:buSzPct val="100000"/>
                  <a:buChar char="•"/>
                </a:pPr>
                <a:r>
                  <a:rPr lang="en-US" sz="1550" dirty="0">
                    <a:solidFill>
                      <a:srgbClr val="CFD0D8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Flat spatial hypersurfaces: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b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𝛾</m:t>
                        </m:r>
                      </m:e>
                      <m:sub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𝑖𝑗</m:t>
                        </m:r>
                      </m:sub>
                    </m:sSub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=</m:t>
                    </m:r>
                    <m:sSub>
                      <m:sSubPr>
                        <m:ctrlP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</m:ctrlPr>
                      </m:sSubPr>
                      <m:e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𝛿</m:t>
                        </m:r>
                      </m:e>
                      <m:sub>
                        <m:r>
                          <a:rPr lang="pt-BR" sz="1550" b="0" i="1" smtClean="0">
                            <a:solidFill>
                              <a:srgbClr val="CFD0D8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  <a:cs typeface="Roboto" pitchFamily="34" charset="-120"/>
                          </a:rPr>
                          <m:t>𝑖𝑗</m:t>
                        </m:r>
                      </m:sub>
                    </m:sSub>
                    <m:r>
                      <a:rPr lang="pt-BR" sz="1550" b="0" i="1" smtClean="0">
                        <a:solidFill>
                          <a:srgbClr val="CFD0D8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 </m:t>
                    </m:r>
                  </m:oMath>
                </a14:m>
                <a:endParaRPr lang="en-US" sz="1550" dirty="0"/>
              </a:p>
            </p:txBody>
          </p:sp>
        </mc:Choice>
        <mc:Fallback xmlns=""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4479985"/>
                <a:ext cx="6279356" cy="317540"/>
              </a:xfrm>
              <a:prstGeom prst="rect">
                <a:avLst/>
              </a:prstGeom>
              <a:blipFill>
                <a:blip r:embed="rId4"/>
                <a:stretch>
                  <a:fillRect l="-1845" t="-3846" b="-25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6"/>
          <p:cNvSpPr/>
          <p:nvPr/>
        </p:nvSpPr>
        <p:spPr>
          <a:xfrm>
            <a:off x="793790" y="486693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v_s(t): velocity of the warp bubble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525389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f(r_s): shape function defining the bubble profile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31356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Physical Implications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564874" y="37060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deceptively simple metric yields profound physical consequences: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564874" y="420221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Geodesics inside the bubble follow flat space trajectories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64874" y="458916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metric remains Lorentzian (signature -+++) throughout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4874" y="497611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Spacetime curvature is concentrated at the bubble walls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64874" y="536307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 singularities are absent, unlike in black hole metrics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93790" y="59732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assumptions significantly simplify the mathematics while preserving the essential physics of the warp drive concept.</a:t>
            </a:r>
            <a:endParaRPr lang="en-US" sz="1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ABB0646-2B3B-3E31-8FBD-BEEB3070BAEA}"/>
                  </a:ext>
                </a:extLst>
              </p:cNvPr>
              <p:cNvSpPr txBox="1"/>
              <p:nvPr/>
            </p:nvSpPr>
            <p:spPr>
              <a:xfrm>
                <a:off x="3148155" y="1794325"/>
                <a:ext cx="9583201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36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6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pt-BR" sz="36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ABB0646-2B3B-3E31-8FBD-BEEB3070B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155" y="1794325"/>
                <a:ext cx="9583201" cy="753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5687"/>
            <a:ext cx="114496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Causality and Hyperbolicity in Alcubierre Spacetime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02600"/>
            <a:ext cx="4215289" cy="3841194"/>
          </a:xfrm>
          <a:prstGeom prst="roundRect">
            <a:avLst>
              <a:gd name="adj" fmla="val 285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0930" y="2702600"/>
            <a:ext cx="91440" cy="3841194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83588" y="29238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Global Hyperbolicity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353038"/>
            <a:ext cx="3704273" cy="296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Alcubierre spacetime maintains global hyperbolicity, a crucial property that ensures a well-defined initial value problem for Einstein's equations.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property guarantees that the evolution of spacetime can be uniquely determined from initial conditions on a Cauchy hypersurface.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702600"/>
            <a:ext cx="4215408" cy="3841194"/>
          </a:xfrm>
          <a:prstGeom prst="roundRect">
            <a:avLst>
              <a:gd name="adj" fmla="val 285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184577" y="2702600"/>
            <a:ext cx="91440" cy="3841194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97235" y="2923818"/>
            <a:ext cx="35360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Shift Vector and Lapse Function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3353038"/>
            <a:ext cx="3704392" cy="2668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lapse function α is set to unity (α = 1), while the shift vector βᵢ induces a boost in the bubble's direction of travel.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configuration creates the desired warping effect without introducing pathological features in the spacetime structure.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2702600"/>
            <a:ext cx="4215289" cy="3841194"/>
          </a:xfrm>
          <a:prstGeom prst="roundRect">
            <a:avLst>
              <a:gd name="adj" fmla="val 2857"/>
            </a:avLst>
          </a:prstGeom>
          <a:solidFill>
            <a:srgbClr val="000018">
              <a:alpha val="95000"/>
            </a:srgbClr>
          </a:solidFill>
          <a:ln w="2286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598343" y="2702600"/>
            <a:ext cx="91440" cy="3841194"/>
          </a:xfrm>
          <a:prstGeom prst="roundRect">
            <a:avLst>
              <a:gd name="adj" fmla="val 9116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911001" y="2923818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Absence of Closed Timelike Curves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11001" y="3635338"/>
            <a:ext cx="3704273" cy="265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construction explicitly avoids closed timelike curves (CTCs), which would permit backwards time travel and violate causality.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Despite enabling apparent FTL motion, the warp drive preserves the causal structure of spacetime, preventing paradoxical scenarios.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0"/>
    </mc:Choice>
    <mc:Fallback xmlns="">
      <p:transition spd="slow" advClick="0" advTm="2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794E-19BF-3950-0890-629C8CFE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61EB0C-011A-8B02-C000-DEBDD0BDE993}"/>
              </a:ext>
            </a:extLst>
          </p:cNvPr>
          <p:cNvSpPr/>
          <p:nvPr/>
        </p:nvSpPr>
        <p:spPr>
          <a:xfrm>
            <a:off x="793790" y="620554"/>
            <a:ext cx="115516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Negative energy density</a:t>
            </a:r>
            <a:endParaRPr lang="en-US" sz="3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09F63EB-3E29-43F7-E0AA-5174DE5A5C10}"/>
                  </a:ext>
                </a:extLst>
              </p:cNvPr>
              <p:cNvSpPr txBox="1"/>
              <p:nvPr/>
            </p:nvSpPr>
            <p:spPr>
              <a:xfrm>
                <a:off x="3928740" y="1794325"/>
                <a:ext cx="5711179" cy="145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pt-BR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𝜕𝛽</m:t>
                                      </m:r>
                                    </m:num>
                                    <m:den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t-BR" sz="3600" dirty="0">
                              <a:solidFill>
                                <a:schemeClr val="bg1"/>
                              </a:solidFill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pt-BR" sz="3600" b="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sSup>
                            <m:sSupPr>
                              <m:ctrlP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3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𝜕𝛽</m:t>
                                      </m:r>
                                    </m:num>
                                    <m:den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36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709F63EB-3E29-43F7-E0AA-5174DE5A5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740" y="1794325"/>
                <a:ext cx="5711179" cy="1450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2">
            <a:extLst>
              <a:ext uri="{FF2B5EF4-FFF2-40B4-BE49-F238E27FC236}">
                <a16:creationId xmlns:a16="http://schemas.microsoft.com/office/drawing/2014/main" id="{2D2897AC-8911-5CC7-8D29-C1D2B5D6187B}"/>
              </a:ext>
            </a:extLst>
          </p:cNvPr>
          <p:cNvSpPr/>
          <p:nvPr/>
        </p:nvSpPr>
        <p:spPr>
          <a:xfrm>
            <a:off x="314287" y="4014439"/>
            <a:ext cx="11427947" cy="351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Violation of energy conditions</a:t>
            </a: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Weak energy condition</a:t>
            </a: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Dominant energy condition</a:t>
            </a: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Necessity of exotic matter for warp bubble creation</a:t>
            </a: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CFD0D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Roboto" pitchFamily="34" charset="-120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D0D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Roboto" pitchFamily="34" charset="-120"/>
              </a:rPr>
              <a:t>Necessity of vast amounts of negative energy.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27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603</Words>
  <Application>Microsoft Office PowerPoint</Application>
  <PresentationFormat>Personalizar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Cambria Math</vt:lpstr>
      <vt:lpstr>Source Sans Pro</vt:lpstr>
      <vt:lpstr>Arial</vt:lpstr>
      <vt:lpstr>Roboto Medium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2</cp:revision>
  <dcterms:created xsi:type="dcterms:W3CDTF">2025-07-24T17:48:58Z</dcterms:created>
  <dcterms:modified xsi:type="dcterms:W3CDTF">2025-07-25T00:01:33Z</dcterms:modified>
</cp:coreProperties>
</file>