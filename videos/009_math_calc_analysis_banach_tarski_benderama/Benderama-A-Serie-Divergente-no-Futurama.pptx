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bin" panose="020B0604020202020204" charset="0"/>
      <p:regular r:id="rId11"/>
    </p:embeddedFont>
    <p:embeddedFont>
      <p:font typeface="Unbounded" panose="020B0604020202020204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F361E7FD-9619-449F-AF0B-2F628F1F0E14}"/>
    <pc:docChg chg="modSld">
      <pc:chgData name="Osvaldo Luiz Santos Pereira" userId="c308351cf5a860c7" providerId="LiveId" clId="{F361E7FD-9619-449F-AF0B-2F628F1F0E14}" dt="2025-03-23T19:30:16.583" v="53" actId="20577"/>
      <pc:docMkLst>
        <pc:docMk/>
      </pc:docMkLst>
      <pc:sldChg chg="modSp mod">
        <pc:chgData name="Osvaldo Luiz Santos Pereira" userId="c308351cf5a860c7" providerId="LiveId" clId="{F361E7FD-9619-449F-AF0B-2F628F1F0E14}" dt="2025-03-23T19:29:22.840" v="9" actId="20577"/>
        <pc:sldMkLst>
          <pc:docMk/>
          <pc:sldMk cId="0" sldId="256"/>
        </pc:sldMkLst>
        <pc:spChg chg="mod">
          <ac:chgData name="Osvaldo Luiz Santos Pereira" userId="c308351cf5a860c7" providerId="LiveId" clId="{F361E7FD-9619-449F-AF0B-2F628F1F0E14}" dt="2025-03-23T19:29:22.840" v="9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Osvaldo Luiz Santos Pereira" userId="c308351cf5a860c7" providerId="LiveId" clId="{F361E7FD-9619-449F-AF0B-2F628F1F0E14}" dt="2025-03-23T19:30:16.583" v="53" actId="20577"/>
        <pc:sldMkLst>
          <pc:docMk/>
          <pc:sldMk cId="0" sldId="260"/>
        </pc:sldMkLst>
        <pc:spChg chg="mod">
          <ac:chgData name="Osvaldo Luiz Santos Pereira" userId="c308351cf5a860c7" providerId="LiveId" clId="{F361E7FD-9619-449F-AF0B-2F628F1F0E14}" dt="2025-03-23T19:30:16.583" v="53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91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5217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Benderama: A Série Divergente no Futurama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2319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Uma análise matemática da multiplicação infinita de Bender e o teorema de Banach-Tarski.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676305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44" y="5683925"/>
            <a:ext cx="367665" cy="367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0287" y="5658445"/>
            <a:ext cx="2537817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 err="1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por</a:t>
            </a:r>
            <a:r>
              <a:rPr lang="en-US" sz="2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 Osvaldo L. Santos-Pereira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9639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Episódio Benderama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6325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3690580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3632597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Episódio 17, Temporada 6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4480084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Farnsworth cria máquina de duplicação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4691658" y="36325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908" y="3690580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9493" y="3632597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Bender se multiplica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69493" y="4480084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Cópias menores consomem matéria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575464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74" y="5812631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5754648"/>
            <a:ext cx="36940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Problema exponencial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625018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Crescimento sem limite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5667" y="628055"/>
            <a:ext cx="7545467" cy="134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Equação do Professor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5667" y="2313861"/>
            <a:ext cx="7545467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 = Σ (de k=0 até n) 2ⁿ × [M₀/(2ⁿ×(n+1))]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5667" y="3050143"/>
            <a:ext cx="3601403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00"/>
              </a:lnSpc>
              <a:buNone/>
            </a:pPr>
            <a:r>
              <a:rPr lang="en-US" sz="5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M₀</a:t>
            </a:r>
            <a:endParaRPr lang="en-US" sz="5900" dirty="0"/>
          </a:p>
        </p:txBody>
      </p:sp>
      <p:sp>
        <p:nvSpPr>
          <p:cNvPr id="6" name="Text 3"/>
          <p:cNvSpPr/>
          <p:nvPr/>
        </p:nvSpPr>
        <p:spPr>
          <a:xfrm>
            <a:off x="6742986" y="4089202"/>
            <a:ext cx="2686764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Massa Inicial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285667" y="4561999"/>
            <a:ext cx="3601403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massa original de Bender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29612" y="3050143"/>
            <a:ext cx="3601522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00"/>
              </a:lnSpc>
              <a:buNone/>
            </a:pPr>
            <a:r>
              <a:rPr lang="en-US" sz="5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2ⁿ</a:t>
            </a:r>
            <a:endParaRPr lang="en-US" sz="5900" dirty="0"/>
          </a:p>
        </p:txBody>
      </p:sp>
      <p:sp>
        <p:nvSpPr>
          <p:cNvPr id="9" name="Text 6"/>
          <p:cNvSpPr/>
          <p:nvPr/>
        </p:nvSpPr>
        <p:spPr>
          <a:xfrm>
            <a:off x="10686931" y="4089202"/>
            <a:ext cx="2686764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Multiplicação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229612" y="4561999"/>
            <a:ext cx="360152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Número de réplicas na iteração 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257580" y="5726549"/>
            <a:ext cx="3601522" cy="75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00"/>
              </a:lnSpc>
              <a:buNone/>
            </a:pPr>
            <a:r>
              <a:rPr lang="en-US" sz="5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n+1</a:t>
            </a:r>
            <a:endParaRPr lang="en-US" sz="5900" dirty="0"/>
          </a:p>
        </p:txBody>
      </p:sp>
      <p:sp>
        <p:nvSpPr>
          <p:cNvPr id="12" name="Text 9"/>
          <p:cNvSpPr/>
          <p:nvPr/>
        </p:nvSpPr>
        <p:spPr>
          <a:xfrm>
            <a:off x="8714899" y="6765608"/>
            <a:ext cx="2686764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Denominador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57580" y="7238405"/>
            <a:ext cx="360152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Fator de redução por iteração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155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16" y="2702838"/>
            <a:ext cx="4652010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Séries Divergentes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6" y="3489960"/>
            <a:ext cx="886182" cy="10634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2364" y="3667125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772364" y="4033957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Soma infinita sem limite finito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6" y="4553426"/>
            <a:ext cx="886182" cy="10634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2364" y="4730591"/>
            <a:ext cx="210907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Comportamento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772364" y="5097423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Termos não diminuem suficientemente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16" y="5616892"/>
            <a:ext cx="886182" cy="10634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2364" y="5794058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Consequência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772364" y="6160889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Série cresce sem limites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316" y="6680359"/>
            <a:ext cx="886182" cy="10634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2364" y="6857524"/>
            <a:ext cx="2134910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Exemplo clássico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772364" y="7224355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 + 2 + 3 + 4 + ...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27798"/>
            <a:ext cx="889801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Análise da Série de Bender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38" y="2610564"/>
            <a:ext cx="2137529" cy="13571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3246358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84482" y="2849880"/>
            <a:ext cx="424481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Crescimento exponencial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84482" y="3345418"/>
            <a:ext cx="424481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Cada Bender cria dois menores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814" y="4027527"/>
            <a:ext cx="4275058" cy="135719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88" y="4495681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3187" y="4266843"/>
            <a:ext cx="30187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Série matemática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53187" y="4762381"/>
            <a:ext cx="301871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∑ 2ⁿ = 1 + 2 + 4 + 8 + ...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9" y="5444490"/>
            <a:ext cx="6412587" cy="135719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8107" y="5912644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2012" y="5683806"/>
            <a:ext cx="400050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Conservação de massa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22012" y="6179344"/>
            <a:ext cx="40005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Massa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infinita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devido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à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série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ser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divergente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0393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Paradoxo de Banach-Tarski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70942"/>
            <a:ext cx="3614618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77039" y="3010257"/>
            <a:ext cx="31359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Teorema Matemático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857744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Uma esfera pode ser decomposta e reorganizada em duas esferas idênticas à original.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770942"/>
            <a:ext cx="3614618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930973" y="30102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Decomposição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505795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Requer uso de conjuntos não-mensuráveis, baseados no axioma da escolha.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868472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77039" y="6107787"/>
            <a:ext cx="406348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Relevância no Futurama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6603325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Inspiração para a máquina de duplicação do Professor.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879" y="586978"/>
            <a:ext cx="7650242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Consequências Matemáticas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86909" y="2162413"/>
            <a:ext cx="30480" cy="5480209"/>
          </a:xfrm>
          <a:prstGeom prst="roundRect">
            <a:avLst>
              <a:gd name="adj" fmla="val 10503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196519" y="2627233"/>
            <a:ext cx="640199" cy="30480"/>
          </a:xfrm>
          <a:prstGeom prst="roundRect">
            <a:avLst>
              <a:gd name="adj" fmla="val 10503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46820" y="2402443"/>
            <a:ext cx="480179" cy="4801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35" y="2454176"/>
            <a:ext cx="301228" cy="3765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4066" y="2375773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Nível Quântico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2054066" y="2817614"/>
            <a:ext cx="6343055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Impossível na física real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196519" y="4050625"/>
            <a:ext cx="640199" cy="30480"/>
          </a:xfrm>
          <a:prstGeom prst="roundRect">
            <a:avLst>
              <a:gd name="adj" fmla="val 10503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746820" y="3825835"/>
            <a:ext cx="480179" cy="4801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35" y="3877568"/>
            <a:ext cx="301228" cy="3765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54066" y="3799165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Universo Fictício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2054066" y="4241006"/>
            <a:ext cx="6343055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Leis físicas diferentes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1196519" y="5474018"/>
            <a:ext cx="640199" cy="30480"/>
          </a:xfrm>
          <a:prstGeom prst="roundRect">
            <a:avLst>
              <a:gd name="adj" fmla="val 10503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746820" y="5249228"/>
            <a:ext cx="480179" cy="4801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35" y="5300960"/>
            <a:ext cx="301228" cy="3765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54066" y="5222558"/>
            <a:ext cx="367295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Conservação de Energia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2054066" y="5664398"/>
            <a:ext cx="6343055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Violada na série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1196519" y="6897410"/>
            <a:ext cx="640199" cy="30480"/>
          </a:xfrm>
          <a:prstGeom prst="roundRect">
            <a:avLst>
              <a:gd name="adj" fmla="val 105031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746820" y="6672620"/>
            <a:ext cx="480179" cy="480179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35" y="6724352"/>
            <a:ext cx="301228" cy="3765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54066" y="6645950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Limite Prático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2054066" y="7087791"/>
            <a:ext cx="6343055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Escassez de recursos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89955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Interpretação e Conclusão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81601" y="2852023"/>
            <a:ext cx="330755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Humor Matemático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347561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Referência inteligente à matemática avançada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516" y="3183969"/>
            <a:ext cx="358140" cy="447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2852023"/>
            <a:ext cx="331231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Metáfora Científica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1243" y="3347561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Crescimento exponencial não sustentável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388" y="3569732"/>
            <a:ext cx="358140" cy="4476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549009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Licença Criativa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1243" y="5985629"/>
            <a:ext cx="38514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Paradoxo impossível tornado possível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5780603"/>
            <a:ext cx="358140" cy="4476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72972" y="529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Legado Cultural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837724" y="5794177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Matemática complexa acessível ao público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753" y="5394841"/>
            <a:ext cx="358140" cy="447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</Words>
  <Application>Microsoft Office PowerPoint</Application>
  <PresentationFormat>Personalizar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Cabin</vt:lpstr>
      <vt:lpstr>Arial</vt:lpstr>
      <vt:lpstr>Unbounded</vt:lpstr>
      <vt:lpstr>Cabin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Osvaldo Luiz Santos Pereira</cp:lastModifiedBy>
  <cp:revision>1</cp:revision>
  <dcterms:created xsi:type="dcterms:W3CDTF">2025-03-23T19:28:34Z</dcterms:created>
  <dcterms:modified xsi:type="dcterms:W3CDTF">2025-03-23T19:30:27Z</dcterms:modified>
</cp:coreProperties>
</file>