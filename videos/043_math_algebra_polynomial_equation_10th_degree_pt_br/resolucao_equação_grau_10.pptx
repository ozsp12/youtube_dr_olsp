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81" r:id="rId2"/>
    <p:sldId id="283" r:id="rId3"/>
    <p:sldId id="275" r:id="rId4"/>
    <p:sldId id="276" r:id="rId5"/>
    <p:sldId id="277" r:id="rId6"/>
    <p:sldId id="278" r:id="rId7"/>
    <p:sldId id="279" r:id="rId8"/>
    <p:sldId id="280" r:id="rId9"/>
    <p:sldId id="285" r:id="rId10"/>
    <p:sldId id="272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6" y="3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Destaque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Decor anel 1"/>
          <p:cNvSpPr/>
          <p:nvPr userDrawn="1"/>
        </p:nvSpPr>
        <p:spPr>
          <a:xfrm>
            <a:off x="10160000" y="-1143000"/>
            <a:ext cx="3302000" cy="3302000"/>
          </a:xfrm>
          <a:prstGeom prst="ellipse">
            <a:avLst/>
          </a:prstGeom>
          <a:noFill/>
          <a:ln w="19050">
            <a:solidFill>
              <a:srgbClr val="1621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Decor anel 2"/>
          <p:cNvSpPr/>
          <p:nvPr userDrawn="1"/>
        </p:nvSpPr>
        <p:spPr>
          <a:xfrm>
            <a:off x="10922000" y="-381000"/>
            <a:ext cx="1778000" cy="1778000"/>
          </a:xfrm>
          <a:prstGeom prst="ellipse">
            <a:avLst/>
          </a:prstGeom>
          <a:noFill/>
          <a:ln w="19050">
            <a:solidFill>
              <a:srgbClr val="16213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9" name="Faixa topo"/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369A1"/>
              </a:gs>
              <a:gs pos="100000">
                <a:srgbClr val="C2410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Linha rodapé"/>
          <p:cNvSpPr/>
          <p:nvPr userDrawn="1"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Rodapé autor"/>
          <p:cNvSpPr txBox="1"/>
          <p:nvPr userDrawn="1"/>
        </p:nvSpPr>
        <p:spPr>
          <a:xfrm>
            <a:off x="609600" y="6451600"/>
            <a:ext cx="5080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100" b="0" dirty="0">
                <a:solidFill>
                  <a:srgbClr val="94A3B8"/>
                </a:solidFill>
                <a:latin typeface="Arial"/>
              </a:rPr>
              <a:t>Dr. Osvaldo L. Santos-Pereira</a:t>
            </a:r>
          </a:p>
        </p:txBody>
      </p:sp>
      <p:sp>
        <p:nvSpPr>
          <p:cNvPr id="112" name="Número de página"/>
          <p:cNvSpPr txBox="1"/>
          <p:nvPr userDrawn="1"/>
        </p:nvSpPr>
        <p:spPr>
          <a:xfrm>
            <a:off x="9042400" y="6451600"/>
            <a:ext cx="2540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6F15528-21DE-4FAA-801E-634DDDAF4B2B}" type="slidenum">
              <a:rPr lang="pt-BR" sz="1200" b="1" dirty="0">
                <a:solidFill>
                  <a:srgbClr val="F1F5F9"/>
                </a:solidFill>
                <a:latin typeface="Arial"/>
              </a:rPr>
              <a:t>‹nº›</a:t>
            </a:fld>
            <a:r>
              <a:rPr lang="pt-BR" sz="1200" b="0" dirty="0">
                <a:solidFill>
                  <a:srgbClr val="94A3B8"/>
                </a:solidFill>
                <a:latin typeface="Arial"/>
              </a:rPr>
              <a:t>/10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ecor anel 1"/>
          <p:cNvSpPr/>
          <p:nvPr userDrawn="1"/>
        </p:nvSpPr>
        <p:spPr>
          <a:xfrm>
            <a:off x="10160000" y="-1143000"/>
            <a:ext cx="3302000" cy="3302000"/>
          </a:xfrm>
          <a:prstGeom prst="ellipse">
            <a:avLst/>
          </a:prstGeom>
          <a:noFill/>
          <a:ln w="19050">
            <a:solidFill>
              <a:srgbClr val="EEF2F7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" name="Decor anel 2"/>
          <p:cNvSpPr/>
          <p:nvPr userDrawn="1"/>
        </p:nvSpPr>
        <p:spPr>
          <a:xfrm>
            <a:off x="10922000" y="-381000"/>
            <a:ext cx="1778000" cy="1778000"/>
          </a:xfrm>
          <a:prstGeom prst="ellipse">
            <a:avLst/>
          </a:prstGeom>
          <a:noFill/>
          <a:ln w="19050">
            <a:solidFill>
              <a:srgbClr val="EEF2F7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2" name="Faixa topo"/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369A1"/>
              </a:gs>
              <a:gs pos="100000">
                <a:srgbClr val="C2410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3" name="Cabeçalho"/>
          <p:cNvSpPr txBox="1"/>
          <p:nvPr userDrawn="1"/>
        </p:nvSpPr>
        <p:spPr>
          <a:xfrm>
            <a:off x="609600" y="279400"/>
            <a:ext cx="5080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100" b="1" spc="100" dirty="0">
                <a:solidFill>
                  <a:srgbClr val="64748B"/>
                </a:solidFill>
                <a:latin typeface="Arial"/>
              </a:rPr>
              <a:t>EQUAÇÃO DO 10º GRAU</a:t>
            </a:r>
          </a:p>
        </p:txBody>
      </p:sp>
      <p:sp>
        <p:nvSpPr>
          <p:cNvPr id="104" name="Linha rodapé"/>
          <p:cNvSpPr/>
          <p:nvPr userDrawn="1"/>
        </p:nvSpPr>
        <p:spPr>
          <a:xfrm>
            <a:off x="609600" y="6350000"/>
            <a:ext cx="109728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Rodapé autor"/>
          <p:cNvSpPr txBox="1"/>
          <p:nvPr userDrawn="1"/>
        </p:nvSpPr>
        <p:spPr>
          <a:xfrm>
            <a:off x="609600" y="6451600"/>
            <a:ext cx="5080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100" b="0" dirty="0">
                <a:solidFill>
                  <a:srgbClr val="64748B"/>
                </a:solidFill>
                <a:latin typeface="Arial"/>
              </a:rPr>
              <a:t>Dr. Osvaldo L. Santos-Pereira</a:t>
            </a:r>
          </a:p>
        </p:txBody>
      </p:sp>
      <p:sp>
        <p:nvSpPr>
          <p:cNvPr id="106" name="Número de página"/>
          <p:cNvSpPr txBox="1"/>
          <p:nvPr userDrawn="1"/>
        </p:nvSpPr>
        <p:spPr>
          <a:xfrm>
            <a:off x="9042400" y="6451600"/>
            <a:ext cx="2540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6F15528-21DE-4FAA-801E-634DDDAF4B2B}" type="slidenum">
              <a:rPr lang="pt-BR" sz="1200" b="1" dirty="0">
                <a:solidFill>
                  <a:srgbClr val="0F172A"/>
                </a:solidFill>
                <a:latin typeface="Arial"/>
              </a:rPr>
              <a:t>‹nº›</a:t>
            </a:fld>
            <a:r>
              <a:rPr lang="pt-BR" sz="1200" b="0" dirty="0">
                <a:solidFill>
                  <a:srgbClr val="64748B"/>
                </a:solidFill>
                <a:latin typeface="Arial"/>
              </a:rPr>
              <a:t>/10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241452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86312" y="2045047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Arial"/>
              </a:rPr>
              <a:t>DESAFIO ALGÉBRICO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0415" y="2473672"/>
            <a:ext cx="9351168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8FAFC"/>
                </a:solidFill>
                <a:latin typeface="Georgia"/>
              </a:rPr>
              <a:t>Resolução Passo a Passo:</a:t>
            </a:r>
            <a:br/>
            <a:r>
              <a:rPr sz="4800" b="1" i="0" u="none">
                <a:solidFill>
                  <a:srgbClr val="F8FAFC"/>
                </a:solidFill>
                <a:latin typeface="Georgia"/>
              </a:rPr>
              <a:t>Equação do 10º Grau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1265" y="4584352"/>
            <a:ext cx="3369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Arial"/>
              </a:rPr>
              <a:t>Dr. Osvaldo L. Santos-Pereira</a:t>
            </a:r>
          </a:p>
        </p:txBody>
      </p:sp>
    </p:spTree>
    <p:extLst>
      <p:ext uri="{BB962C8B-B14F-4D97-AF65-F5344CB8AC3E}">
        <p14:creationId xmlns:p14="http://schemas.microsoft.com/office/powerpoint/2010/main" val="295607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26035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64748B"/>
                </a:solidFill>
                <a:latin typeface="Arial"/>
              </a:rPr>
              <a:t>A EQUAÇÃO ORIGINAL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uação original"/>
              <p:cNvSpPr txBox="1"/>
              <p:nvPr/>
            </p:nvSpPr>
            <p:spPr>
              <a:xfrm>
                <a:off x="508000" y="3048000"/>
                <a:ext cx="11176000" cy="101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3600"/>
              </a:p>
            </p:txBody>
          </p:sp>
        </mc:Choice>
        <mc:Fallback>
          <p:sp>
            <p:nvSpPr>
              <p:cNvPr id="10" name="Equação origina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048000"/>
                <a:ext cx="11176000" cy="101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Nota termos ausentes"/>
          <p:cNvSpPr/>
          <p:nvPr/>
        </p:nvSpPr>
        <p:spPr>
          <a:xfrm>
            <a:off x="3238500" y="4381500"/>
            <a:ext cx="5715000" cy="5080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600" b="1" i="0" dirty="0">
                <a:solidFill>
                  <a:srgbClr val="0F172A"/>
                </a:solidFill>
                <a:latin typeface="Arial"/>
              </a:rPr>
              <a:t>Nota: 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os termos </a:t>
            </a:r>
            <a:r>
              <a:rPr lang="pt-BR" sz="1600" b="0" i="1" dirty="0">
                <a:solidFill>
                  <a:srgbClr val="0F172A"/>
                </a:solidFill>
                <a:latin typeface="Cambria Math"/>
              </a:rPr>
              <a:t>x</a:t>
            </a:r>
            <a:r>
              <a:rPr lang="pt-BR" sz="1600" b="0" i="0" baseline="30000" dirty="0">
                <a:solidFill>
                  <a:srgbClr val="0F172A"/>
                </a:solidFill>
                <a:latin typeface="Cambria Math"/>
              </a:rPr>
              <a:t>3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 e </a:t>
            </a:r>
            <a:r>
              <a:rPr lang="pt-BR" sz="1600" b="0" i="1" dirty="0">
                <a:solidFill>
                  <a:srgbClr val="0F172A"/>
                </a:solidFill>
                <a:latin typeface="Cambria Math"/>
              </a:rPr>
              <a:t>x</a:t>
            </a:r>
            <a:r>
              <a:rPr lang="pt-BR" sz="1600" b="0" i="0" baseline="30000" dirty="0">
                <a:solidFill>
                  <a:srgbClr val="0F172A"/>
                </a:solidFill>
                <a:latin typeface="Cambria Math"/>
              </a:rPr>
              <a:t>7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 não estão presentes na equação.</a:t>
            </a:r>
          </a:p>
        </p:txBody>
      </p:sp>
    </p:spTree>
    <p:extLst>
      <p:ext uri="{BB962C8B-B14F-4D97-AF65-F5344CB8AC3E}">
        <p14:creationId xmlns:p14="http://schemas.microsoft.com/office/powerpoint/2010/main" val="136221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22225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369A1"/>
                </a:solidFill>
                <a:latin typeface="Arial"/>
              </a:rPr>
              <a:t>PASSO 1: AGRUPAMENTO INTELIGENTE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Agrupamento"/>
              <p:cNvSpPr txBox="1"/>
              <p:nvPr/>
            </p:nvSpPr>
            <p:spPr>
              <a:xfrm>
                <a:off x="508000" y="2603500"/>
                <a:ext cx="11176000" cy="635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i="1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  <m:r>
                        <a:rPr lang="pt-BR" sz="2400" i="1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94A3B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94A3B8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e>
                      </m:d>
                      <m:r>
                        <a:rPr lang="pt-BR" sz="2400" i="1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/>
              </a:p>
            </p:txBody>
          </p:sp>
        </mc:Choice>
        <mc:Fallback>
          <p:sp>
            <p:nvSpPr>
              <p:cNvPr id="10" name="Agrupamen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603500"/>
                <a:ext cx="11176000" cy="63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rmo comum"/>
              <p:cNvSpPr txBox="1"/>
              <p:nvPr/>
            </p:nvSpPr>
            <p:spPr>
              <a:xfrm>
                <a:off x="381000" y="3365500"/>
                <a:ext cx="11430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3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d>
                        <m:dPr>
                          <m:ctrlP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3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d>
                        <m:dPr>
                          <m:ctrlP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3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3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3200"/>
              </a:p>
            </p:txBody>
          </p:sp>
        </mc:Choice>
        <mc:Fallback>
          <p:sp>
            <p:nvSpPr>
              <p:cNvPr id="11" name="Termo comu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365500"/>
                <a:ext cx="11430000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58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25400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369A1"/>
                </a:solidFill>
                <a:latin typeface="Arial"/>
              </a:rPr>
              <a:t>PASSO 2: FATORAÇÃO DO TERMO COMUM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atoração"/>
              <p:cNvSpPr txBox="1"/>
              <p:nvPr/>
            </p:nvSpPr>
            <p:spPr>
              <a:xfrm>
                <a:off x="508000" y="2984500"/>
                <a:ext cx="111760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t-BR" sz="44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4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44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44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44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4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44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44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pt-BR" sz="44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4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44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44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  <m:r>
                        <a:rPr lang="pt-BR" sz="44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4400"/>
              </a:p>
            </p:txBody>
          </p:sp>
        </mc:Choice>
        <mc:Fallback>
          <p:sp>
            <p:nvSpPr>
              <p:cNvPr id="10" name="Fatora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984500"/>
                <a:ext cx="11176000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91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0675"/>
            <a:ext cx="5334000" cy="4505325"/>
          </a:xfrm>
          <a:prstGeom prst="roundRect">
            <a:avLst>
              <a:gd name="adj" fmla="val 3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590675"/>
            <a:ext cx="5334000" cy="4505325"/>
          </a:xfrm>
          <a:prstGeom prst="roundRect">
            <a:avLst>
              <a:gd name="adj" fmla="val 3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09728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Arial"/>
              </a:rPr>
              <a:t>Para o produto ser zero, dividimos em dois casos: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750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Arial"/>
              </a:rPr>
              <a:t>CASO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750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C2410C"/>
                </a:solidFill>
                <a:latin typeface="Arial"/>
              </a:rPr>
              <a:t>CASO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o 1"/>
              <p:cNvSpPr txBox="1"/>
              <p:nvPr/>
            </p:nvSpPr>
            <p:spPr>
              <a:xfrm>
                <a:off x="609600" y="3556000"/>
                <a:ext cx="53340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3600"/>
              </a:p>
            </p:txBody>
          </p:sp>
        </mc:Choice>
        <mc:Fallback>
          <p:sp>
            <p:nvSpPr>
              <p:cNvPr id="10" name="Cas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56000"/>
                <a:ext cx="53340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o 2"/>
              <p:cNvSpPr txBox="1"/>
              <p:nvPr/>
            </p:nvSpPr>
            <p:spPr>
              <a:xfrm>
                <a:off x="6248400" y="3556000"/>
                <a:ext cx="53340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3600"/>
              </a:p>
            </p:txBody>
          </p:sp>
        </mc:Choice>
        <mc:Fallback>
          <p:sp>
            <p:nvSpPr>
              <p:cNvPr id="11" name="Cas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3556000"/>
                <a:ext cx="5334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62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9050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369A1"/>
                </a:solidFill>
                <a:latin typeface="Arial"/>
              </a:rPr>
              <a:t>RESOLVENDO O CASO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572000"/>
            <a:ext cx="10668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369A1"/>
                </a:solidFill>
                <a:latin typeface="Georgia"/>
              </a:rPr>
              <a:t>2 raízes complexas.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o 1 forma"/>
              <p:cNvSpPr txBox="1"/>
              <p:nvPr/>
            </p:nvSpPr>
            <p:spPr>
              <a:xfrm>
                <a:off x="762000" y="2286000"/>
                <a:ext cx="10668000" cy="571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2400" i="1">
                              <a:solidFill>
                                <a:srgbClr val="64748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64748B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64748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i="1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>
                          <a:solidFill>
                            <a:srgbClr val="64748B"/>
                          </a:solidFill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pt-BR" sz="2400"/>
              </a:p>
            </p:txBody>
          </p:sp>
        </mc:Choice>
        <mc:Fallback>
          <p:sp>
            <p:nvSpPr>
              <p:cNvPr id="10" name="Caso 1 form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86000"/>
                <a:ext cx="10668000" cy="571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órmula de Bhaskara"/>
              <p:cNvSpPr txBox="1"/>
              <p:nvPr/>
            </p:nvSpPr>
            <p:spPr>
              <a:xfrm>
                <a:off x="762000" y="2984500"/>
                <a:ext cx="10668000" cy="1397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40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40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40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40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−1±</m:t>
                          </m:r>
                          <m:r>
                            <a:rPr lang="pt-BR" sz="40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ad>
                            <m:radPr>
                              <m:degHide m:val="on"/>
                              <m:ctrlPr>
                                <a:rPr lang="pt-BR" sz="40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40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pt-BR" sz="40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4000"/>
              </a:p>
            </p:txBody>
          </p:sp>
        </mc:Choice>
        <mc:Fallback>
          <p:sp>
            <p:nvSpPr>
              <p:cNvPr id="11" name="Fórmula de Bhaskar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84500"/>
                <a:ext cx="10668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650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19050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C2410C"/>
                </a:solidFill>
                <a:latin typeface="Arial"/>
              </a:rPr>
              <a:t>RESOLVENDO O CASO 2 (SUBSTITUIÇÃO)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191000"/>
            <a:ext cx="9652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600" b="0" i="0" u="none" dirty="0">
                <a:solidFill>
                  <a:srgbClr val="475569"/>
                </a:solidFill>
                <a:latin typeface="Arial"/>
              </a:rPr>
              <a:t>As raízes em t são as mesmas do Caso 1.</a:t>
            </a:r>
            <a:br>
              <a:rPr lang="pt-BR" sz="1600" b="0" i="0" u="none" dirty="0">
                <a:solidFill>
                  <a:srgbClr val="475569"/>
                </a:solidFill>
                <a:latin typeface="Arial"/>
              </a:rPr>
            </a:br>
            <a:r>
              <a:rPr lang="pt-BR" sz="1600" b="0" i="0" u="none" dirty="0">
                <a:solidFill>
                  <a:srgbClr val="475569"/>
                </a:solidFill>
                <a:latin typeface="Arial"/>
              </a:rPr>
              <a:t>Extraindo a raiz quarta, obtemos 8 raízes; duas coincidem com as do Caso 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o 2 forma"/>
              <p:cNvSpPr txBox="1"/>
              <p:nvPr/>
            </p:nvSpPr>
            <p:spPr>
              <a:xfrm>
                <a:off x="762000" y="2286000"/>
                <a:ext cx="10668000" cy="571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240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pt-BR" sz="2400"/>
              </a:p>
            </p:txBody>
          </p:sp>
        </mc:Choice>
        <mc:Fallback>
          <p:sp>
            <p:nvSpPr>
              <p:cNvPr id="10" name="Caso 2 form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86000"/>
                <a:ext cx="10668000" cy="571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ubstituição"/>
              <p:cNvSpPr txBox="1"/>
              <p:nvPr/>
            </p:nvSpPr>
            <p:spPr>
              <a:xfrm>
                <a:off x="762000" y="2984500"/>
                <a:ext cx="10668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3600" i="1">
                          <a:solidFill>
                            <a:srgbClr val="C2410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i="1">
                          <a:solidFill>
                            <a:srgbClr val="C2410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3600" i="1">
                          <a:solidFill>
                            <a:srgbClr val="94A3B8"/>
                          </a:solidFill>
                          <a:latin typeface="Cambria Math" panose="02040503050406030204" pitchFamily="18" charset="0"/>
                        </a:rPr>
                        <m:t>   ⟹   </m:t>
                      </m:r>
                      <m:sSup>
                        <m:sSupPr>
                          <m:ctrlP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3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pt-BR" sz="3600"/>
              </a:p>
            </p:txBody>
          </p:sp>
        </mc:Choice>
        <mc:Fallback>
          <p:sp>
            <p:nvSpPr>
              <p:cNvPr id="11" name="Substituiçã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84500"/>
                <a:ext cx="10668000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49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57250" y="2461766"/>
            <a:ext cx="4225230" cy="3106042"/>
          </a:xfrm>
          <a:prstGeom prst="roundRect">
            <a:avLst>
              <a:gd name="adj" fmla="val 49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87280" y="2461766"/>
            <a:ext cx="5947469" cy="3106042"/>
          </a:xfrm>
          <a:prstGeom prst="roundRect">
            <a:avLst>
              <a:gd name="adj" fmla="val 4906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5558283"/>
            <a:ext cx="4225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7250" y="2461766"/>
            <a:ext cx="4225230" cy="381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7250" y="2461766"/>
            <a:ext cx="9525" cy="310604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72955" y="2461766"/>
            <a:ext cx="9525" cy="310604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87280" y="5558283"/>
            <a:ext cx="5947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87280" y="2461766"/>
            <a:ext cx="5947469" cy="381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87280" y="2461766"/>
            <a:ext cx="9525" cy="310604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25225" y="2461766"/>
            <a:ext cx="9525" cy="310604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000" y="12446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64748B"/>
                </a:solidFill>
                <a:latin typeface="Arial"/>
              </a:rPr>
              <a:t>ANÁLISE DO PLANO COMPLEXO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1574800"/>
            <a:ext cx="1066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Arial"/>
              </a:rPr>
              <a:t>As 10 Raízes em Notação de Euler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00" y="2768600"/>
            <a:ext cx="4229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369A1"/>
                </a:solidFill>
                <a:latin typeface="Arial"/>
              </a:rPr>
              <a:t>RAÍZES DUPLAS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4800" y="2768600"/>
            <a:ext cx="59436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C2410C"/>
                </a:solidFill>
                <a:latin typeface="Arial"/>
              </a:rPr>
              <a:t>RAÍZES SIMPLES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x1,2"/>
              <p:cNvSpPr txBox="1"/>
              <p:nvPr/>
            </p:nvSpPr>
            <p:spPr>
              <a:xfrm>
                <a:off x="863600" y="3327400"/>
                <a:ext cx="42291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pt-BR" sz="3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3200"/>
              </a:p>
            </p:txBody>
          </p:sp>
        </mc:Choice>
        <mc:Fallback>
          <p:sp>
            <p:nvSpPr>
              <p:cNvPr id="30" name="x1,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3327400"/>
                <a:ext cx="42291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x3,4"/>
              <p:cNvSpPr txBox="1"/>
              <p:nvPr/>
            </p:nvSpPr>
            <p:spPr>
              <a:xfrm>
                <a:off x="863600" y="4343400"/>
                <a:ext cx="42291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r>
                        <a:rPr lang="pt-BR" sz="3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3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3200"/>
              </a:p>
            </p:txBody>
          </p:sp>
        </mc:Choice>
        <mc:Fallback>
          <p:sp>
            <p:nvSpPr>
              <p:cNvPr id="31" name="x3,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4343400"/>
                <a:ext cx="42291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x5"/>
              <p:cNvSpPr txBox="1"/>
              <p:nvPr/>
            </p:nvSpPr>
            <p:spPr>
              <a:xfrm>
                <a:off x="5511800" y="3175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2" name="x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3175000"/>
                <a:ext cx="28448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x6"/>
              <p:cNvSpPr txBox="1"/>
              <p:nvPr/>
            </p:nvSpPr>
            <p:spPr>
              <a:xfrm>
                <a:off x="8356600" y="3175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/>
              </a:p>
            </p:txBody>
          </p:sp>
        </mc:Choice>
        <mc:Fallback>
          <p:sp>
            <p:nvSpPr>
              <p:cNvPr id="33" name="x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175000"/>
                <a:ext cx="2844800" cy="736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x7"/>
              <p:cNvSpPr txBox="1"/>
              <p:nvPr/>
            </p:nvSpPr>
            <p:spPr>
              <a:xfrm>
                <a:off x="5511800" y="3937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/>
              </a:p>
            </p:txBody>
          </p:sp>
        </mc:Choice>
        <mc:Fallback>
          <p:sp>
            <p:nvSpPr>
              <p:cNvPr id="34" name="x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3937000"/>
                <a:ext cx="2844800" cy="736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x8"/>
              <p:cNvSpPr txBox="1"/>
              <p:nvPr/>
            </p:nvSpPr>
            <p:spPr>
              <a:xfrm>
                <a:off x="8356600" y="3937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/>
              </a:p>
            </p:txBody>
          </p:sp>
        </mc:Choice>
        <mc:Fallback>
          <p:sp>
            <p:nvSpPr>
              <p:cNvPr id="35" name="x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937000"/>
                <a:ext cx="2844800" cy="736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x9"/>
              <p:cNvSpPr txBox="1"/>
              <p:nvPr/>
            </p:nvSpPr>
            <p:spPr>
              <a:xfrm>
                <a:off x="5511800" y="4699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/>
              </a:p>
            </p:txBody>
          </p:sp>
        </mc:Choice>
        <mc:Fallback>
          <p:sp>
            <p:nvSpPr>
              <p:cNvPr id="36" name="x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4699000"/>
                <a:ext cx="2844800" cy="736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x10"/>
              <p:cNvSpPr txBox="1"/>
              <p:nvPr/>
            </p:nvSpPr>
            <p:spPr>
              <a:xfrm>
                <a:off x="8356600" y="4699000"/>
                <a:ext cx="28448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pt-BR" sz="28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8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/>
              </a:p>
            </p:txBody>
          </p:sp>
        </mc:Choice>
        <mc:Fallback>
          <p:sp>
            <p:nvSpPr>
              <p:cNvPr id="37" name="x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4699000"/>
                <a:ext cx="2844800" cy="736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44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ótulo"/>
          <p:cNvSpPr txBox="1"/>
          <p:nvPr/>
        </p:nvSpPr>
        <p:spPr>
          <a:xfrm>
            <a:off x="762000" y="7366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1" i="0" dirty="0">
                <a:solidFill>
                  <a:srgbClr val="64748B"/>
                </a:solidFill>
                <a:latin typeface="Arial"/>
              </a:rPr>
              <a:t>INTERPRETAÇÃO GEOMÉTRICA</a:t>
            </a:r>
          </a:p>
        </p:txBody>
      </p:sp>
      <p:sp>
        <p:nvSpPr>
          <p:cNvPr id="11" name="Título"/>
          <p:cNvSpPr txBox="1"/>
          <p:nvPr/>
        </p:nvSpPr>
        <p:spPr>
          <a:xfrm>
            <a:off x="762000" y="1041400"/>
            <a:ext cx="10668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2400" b="1" i="0" dirty="0">
                <a:solidFill>
                  <a:srgbClr val="0F172A"/>
                </a:solidFill>
                <a:latin typeface="Arial"/>
              </a:rPr>
              <a:t>As raízes no círculo unitário</a:t>
            </a:r>
          </a:p>
        </p:txBody>
      </p:sp>
      <p:cxnSp>
        <p:nvCxnSpPr>
          <p:cNvPr id="12" name="Eixo real"/>
          <p:cNvCxnSpPr/>
          <p:nvPr/>
        </p:nvCxnSpPr>
        <p:spPr>
          <a:xfrm>
            <a:off x="1181100" y="3962400"/>
            <a:ext cx="3987800" cy="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cxnSp>
        <p:nvCxnSpPr>
          <p:cNvPr id="13" name="Eixo imaginário"/>
          <p:cNvCxnSpPr/>
          <p:nvPr/>
        </p:nvCxnSpPr>
        <p:spPr>
          <a:xfrm>
            <a:off x="3175000" y="1968500"/>
            <a:ext cx="0" cy="3987800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14" name="Círculo unitário"/>
          <p:cNvSpPr/>
          <p:nvPr/>
        </p:nvSpPr>
        <p:spPr>
          <a:xfrm>
            <a:off x="1460500" y="2247900"/>
            <a:ext cx="3429000" cy="3429000"/>
          </a:xfrm>
          <a:prstGeom prst="ellipse">
            <a:avLst/>
          </a:prstGeom>
          <a:noFill/>
          <a:ln w="19050">
            <a:solidFill>
              <a:srgbClr val="94A3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Não é raiz"/>
          <p:cNvSpPr/>
          <p:nvPr/>
        </p:nvSpPr>
        <p:spPr>
          <a:xfrm>
            <a:off x="4826000" y="38989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Raiz simples"/>
          <p:cNvSpPr/>
          <p:nvPr/>
        </p:nvSpPr>
        <p:spPr>
          <a:xfrm>
            <a:off x="4589951" y="3035300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Ângulo π/6"/>
          <p:cNvSpPr txBox="1"/>
          <p:nvPr/>
        </p:nvSpPr>
        <p:spPr>
          <a:xfrm>
            <a:off x="4583356" y="27876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π/6</a:t>
            </a:r>
          </a:p>
        </p:txBody>
      </p:sp>
      <p:sp>
        <p:nvSpPr>
          <p:cNvPr id="18" name="Raiz simples"/>
          <p:cNvSpPr/>
          <p:nvPr/>
        </p:nvSpPr>
        <p:spPr>
          <a:xfrm>
            <a:off x="3962400" y="2407749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Ângulo π/3"/>
          <p:cNvSpPr txBox="1"/>
          <p:nvPr/>
        </p:nvSpPr>
        <p:spPr>
          <a:xfrm>
            <a:off x="3816350" y="2020644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π/3</a:t>
            </a:r>
          </a:p>
        </p:txBody>
      </p:sp>
      <p:sp>
        <p:nvSpPr>
          <p:cNvPr id="20" name="Não é raiz"/>
          <p:cNvSpPr/>
          <p:nvPr/>
        </p:nvSpPr>
        <p:spPr>
          <a:xfrm>
            <a:off x="3111500" y="21844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Anel raiz dupla"/>
          <p:cNvSpPr/>
          <p:nvPr/>
        </p:nvSpPr>
        <p:spPr>
          <a:xfrm>
            <a:off x="2178050" y="2337899"/>
            <a:ext cx="279400" cy="279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Raiz dupla"/>
          <p:cNvSpPr/>
          <p:nvPr/>
        </p:nvSpPr>
        <p:spPr>
          <a:xfrm>
            <a:off x="2247900" y="2407749"/>
            <a:ext cx="139700" cy="1397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Ângulo 2π/3"/>
          <p:cNvSpPr txBox="1"/>
          <p:nvPr/>
        </p:nvSpPr>
        <p:spPr>
          <a:xfrm>
            <a:off x="1720850" y="2020644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2π/3</a:t>
            </a:r>
          </a:p>
        </p:txBody>
      </p:sp>
      <p:sp>
        <p:nvSpPr>
          <p:cNvPr id="24" name="Raiz simples"/>
          <p:cNvSpPr/>
          <p:nvPr/>
        </p:nvSpPr>
        <p:spPr>
          <a:xfrm>
            <a:off x="1620349" y="3035300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Ângulo 5π/6"/>
          <p:cNvSpPr txBox="1"/>
          <p:nvPr/>
        </p:nvSpPr>
        <p:spPr>
          <a:xfrm>
            <a:off x="953844" y="27876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5π/6</a:t>
            </a:r>
          </a:p>
        </p:txBody>
      </p:sp>
      <p:sp>
        <p:nvSpPr>
          <p:cNvPr id="26" name="Não é raiz"/>
          <p:cNvSpPr/>
          <p:nvPr/>
        </p:nvSpPr>
        <p:spPr>
          <a:xfrm>
            <a:off x="1397000" y="38989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Raiz simples"/>
          <p:cNvSpPr/>
          <p:nvPr/>
        </p:nvSpPr>
        <p:spPr>
          <a:xfrm>
            <a:off x="1620349" y="4749800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Ângulo 7π/6"/>
          <p:cNvSpPr txBox="1"/>
          <p:nvPr/>
        </p:nvSpPr>
        <p:spPr>
          <a:xfrm>
            <a:off x="953844" y="48831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7π/6</a:t>
            </a:r>
          </a:p>
        </p:txBody>
      </p:sp>
      <p:sp>
        <p:nvSpPr>
          <p:cNvPr id="29" name="Anel raiz dupla"/>
          <p:cNvSpPr/>
          <p:nvPr/>
        </p:nvSpPr>
        <p:spPr>
          <a:xfrm>
            <a:off x="2178050" y="5307501"/>
            <a:ext cx="279400" cy="279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" name="Raiz dupla"/>
          <p:cNvSpPr/>
          <p:nvPr/>
        </p:nvSpPr>
        <p:spPr>
          <a:xfrm>
            <a:off x="2247900" y="5377351"/>
            <a:ext cx="139700" cy="1397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Ângulo 4π/3"/>
          <p:cNvSpPr txBox="1"/>
          <p:nvPr/>
        </p:nvSpPr>
        <p:spPr>
          <a:xfrm>
            <a:off x="1720850" y="5650156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4π/3</a:t>
            </a:r>
          </a:p>
        </p:txBody>
      </p:sp>
      <p:sp>
        <p:nvSpPr>
          <p:cNvPr id="32" name="Não é raiz"/>
          <p:cNvSpPr/>
          <p:nvPr/>
        </p:nvSpPr>
        <p:spPr>
          <a:xfrm>
            <a:off x="3111500" y="56134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" name="Raiz simples"/>
          <p:cNvSpPr/>
          <p:nvPr/>
        </p:nvSpPr>
        <p:spPr>
          <a:xfrm>
            <a:off x="3962400" y="5377351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Ângulo 5π/3"/>
          <p:cNvSpPr txBox="1"/>
          <p:nvPr/>
        </p:nvSpPr>
        <p:spPr>
          <a:xfrm>
            <a:off x="3816350" y="5650156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5π/3</a:t>
            </a:r>
          </a:p>
        </p:txBody>
      </p:sp>
      <p:sp>
        <p:nvSpPr>
          <p:cNvPr id="35" name="Raiz simples"/>
          <p:cNvSpPr/>
          <p:nvPr/>
        </p:nvSpPr>
        <p:spPr>
          <a:xfrm>
            <a:off x="4589951" y="4749800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" name="Ângulo 11π/6"/>
          <p:cNvSpPr txBox="1"/>
          <p:nvPr/>
        </p:nvSpPr>
        <p:spPr>
          <a:xfrm>
            <a:off x="4583356" y="48831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334155"/>
                </a:solidFill>
                <a:latin typeface="Cambria Math"/>
              </a:rPr>
              <a:t>11π/6</a:t>
            </a:r>
          </a:p>
        </p:txBody>
      </p:sp>
      <p:sp>
        <p:nvSpPr>
          <p:cNvPr id="37" name="Eixo 1"/>
          <p:cNvSpPr txBox="1"/>
          <p:nvPr/>
        </p:nvSpPr>
        <p:spPr>
          <a:xfrm>
            <a:off x="5118100" y="3835400"/>
            <a:ext cx="406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64748B"/>
                </a:solidFill>
                <a:latin typeface="Cambria Math"/>
              </a:rPr>
              <a:t>1</a:t>
            </a:r>
          </a:p>
        </p:txBody>
      </p:sp>
      <p:sp>
        <p:nvSpPr>
          <p:cNvPr id="38" name="Eixo −1"/>
          <p:cNvSpPr txBox="1"/>
          <p:nvPr/>
        </p:nvSpPr>
        <p:spPr>
          <a:xfrm>
            <a:off x="825500" y="3835400"/>
            <a:ext cx="406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64748B"/>
                </a:solidFill>
                <a:latin typeface="Cambria Math"/>
              </a:rPr>
              <a:t>−1</a:t>
            </a:r>
          </a:p>
        </p:txBody>
      </p:sp>
      <p:sp>
        <p:nvSpPr>
          <p:cNvPr id="39" name="Eixo i"/>
          <p:cNvSpPr txBox="1"/>
          <p:nvPr/>
        </p:nvSpPr>
        <p:spPr>
          <a:xfrm>
            <a:off x="2971800" y="1689100"/>
            <a:ext cx="406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1" dirty="0">
                <a:solidFill>
                  <a:srgbClr val="64748B"/>
                </a:solidFill>
                <a:latin typeface="Cambria Math"/>
              </a:rPr>
              <a:t>i</a:t>
            </a:r>
          </a:p>
        </p:txBody>
      </p:sp>
      <p:sp>
        <p:nvSpPr>
          <p:cNvPr id="40" name="Eixo −i"/>
          <p:cNvSpPr txBox="1"/>
          <p:nvPr/>
        </p:nvSpPr>
        <p:spPr>
          <a:xfrm>
            <a:off x="2971800" y="5981700"/>
            <a:ext cx="406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400" b="0" i="0" dirty="0">
                <a:solidFill>
                  <a:srgbClr val="64748B"/>
                </a:solidFill>
                <a:latin typeface="Cambria Math"/>
              </a:rPr>
              <a:t>−</a:t>
            </a:r>
            <a:r>
              <a:rPr lang="pt-BR" sz="1400" b="0" i="1" dirty="0">
                <a:solidFill>
                  <a:srgbClr val="64748B"/>
                </a:solidFill>
                <a:latin typeface="Cambria Math"/>
              </a:rPr>
              <a:t>i</a:t>
            </a:r>
          </a:p>
        </p:txBody>
      </p:sp>
      <p:sp>
        <p:nvSpPr>
          <p:cNvPr id="41" name="Texto simples"/>
          <p:cNvSpPr txBox="1"/>
          <p:nvPr/>
        </p:nvSpPr>
        <p:spPr>
          <a:xfrm>
            <a:off x="6350000" y="1854200"/>
            <a:ext cx="5232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600" b="0" i="0" dirty="0">
                <a:solidFill>
                  <a:srgbClr val="475569"/>
                </a:solidFill>
                <a:latin typeface="Arial"/>
              </a:rPr>
              <a:t>Escrevendo </a:t>
            </a:r>
            <a:r>
              <a:rPr lang="pt-BR" sz="1600" b="0" i="1" dirty="0">
                <a:solidFill>
                  <a:srgbClr val="0F172A"/>
                </a:solidFill>
                <a:latin typeface="Cambria Math"/>
              </a:rPr>
              <a:t>x</a:t>
            </a:r>
            <a:r>
              <a:rPr lang="pt-BR" sz="1600" b="0" i="0" dirty="0">
                <a:solidFill>
                  <a:srgbClr val="0F172A"/>
                </a:solidFill>
                <a:latin typeface="Cambria Math"/>
              </a:rPr>
              <a:t> = </a:t>
            </a:r>
            <a:r>
              <a:rPr lang="pt-BR" sz="1600" b="0" i="1" dirty="0">
                <a:solidFill>
                  <a:srgbClr val="0F172A"/>
                </a:solidFill>
                <a:latin typeface="Cambria Math"/>
              </a:rPr>
              <a:t>e</a:t>
            </a:r>
            <a:r>
              <a:rPr lang="pt-BR" sz="1600" b="0" i="1" baseline="30000" dirty="0">
                <a:solidFill>
                  <a:srgbClr val="0F172A"/>
                </a:solidFill>
                <a:latin typeface="Cambria Math"/>
              </a:rPr>
              <a:t>iθ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, as seis raízes </a:t>
            </a:r>
            <a:r>
              <a:rPr lang="pt-BR" sz="1600" b="1" i="0" dirty="0">
                <a:solidFill>
                  <a:srgbClr val="C2410C"/>
                </a:solidFill>
                <a:latin typeface="Arial"/>
              </a:rPr>
              <a:t>simples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 estão em: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Ângulos simples"/>
              <p:cNvSpPr txBox="1"/>
              <p:nvPr/>
            </p:nvSpPr>
            <p:spPr>
              <a:xfrm>
                <a:off x="6604000" y="2463800"/>
                <a:ext cx="4978400" cy="787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>
                              <a:solidFill>
                                <a:srgbClr val="C2410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C2410C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200"/>
              </a:p>
            </p:txBody>
          </p:sp>
        </mc:Choice>
        <mc:Fallback>
          <p:sp>
            <p:nvSpPr>
              <p:cNvPr id="42" name="Ângulos simpl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463800"/>
                <a:ext cx="4978400" cy="787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o duplas"/>
          <p:cNvSpPr txBox="1"/>
          <p:nvPr/>
        </p:nvSpPr>
        <p:spPr>
          <a:xfrm>
            <a:off x="6350000" y="3429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600" b="0" i="0" dirty="0">
                <a:solidFill>
                  <a:srgbClr val="475569"/>
                </a:solidFill>
                <a:latin typeface="Arial"/>
              </a:rPr>
              <a:t>As duas raízes </a:t>
            </a:r>
            <a:r>
              <a:rPr lang="pt-BR" sz="1600" b="1" i="0" dirty="0">
                <a:solidFill>
                  <a:srgbClr val="0369A1"/>
                </a:solidFill>
                <a:latin typeface="Arial"/>
              </a:rPr>
              <a:t>duplas</a:t>
            </a:r>
            <a:r>
              <a:rPr lang="pt-BR" sz="1600" b="0" i="0" dirty="0">
                <a:solidFill>
                  <a:srgbClr val="475569"/>
                </a:solidFill>
                <a:latin typeface="Arial"/>
              </a:rPr>
              <a:t> estão em: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Ângulos duplos"/>
              <p:cNvSpPr txBox="1"/>
              <p:nvPr/>
            </p:nvSpPr>
            <p:spPr>
              <a:xfrm>
                <a:off x="6604000" y="3759200"/>
                <a:ext cx="4978400" cy="787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>
                              <a:solidFill>
                                <a:srgbClr val="0369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200" i="1">
                                  <a:solidFill>
                                    <a:srgbClr val="0369A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    ⟹    </m:t>
                      </m:r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2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pt-BR" sz="22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pt-BR" sz="2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pt-BR" sz="22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200"/>
              </a:p>
            </p:txBody>
          </p:sp>
        </mc:Choice>
        <mc:Fallback>
          <p:sp>
            <p:nvSpPr>
              <p:cNvPr id="44" name="Ângulos duplo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3759200"/>
                <a:ext cx="4978400" cy="787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Legenda simples"/>
          <p:cNvSpPr/>
          <p:nvPr/>
        </p:nvSpPr>
        <p:spPr>
          <a:xfrm>
            <a:off x="6350000" y="4883150"/>
            <a:ext cx="139700" cy="1397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" name="Legenda Simples"/>
          <p:cNvSpPr txBox="1"/>
          <p:nvPr/>
        </p:nvSpPr>
        <p:spPr>
          <a:xfrm>
            <a:off x="6578600" y="4826000"/>
            <a:ext cx="1397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400" b="0" i="0" dirty="0">
                <a:solidFill>
                  <a:srgbClr val="475569"/>
                </a:solidFill>
                <a:latin typeface="Arial"/>
              </a:rPr>
              <a:t>Simples</a:t>
            </a:r>
          </a:p>
        </p:txBody>
      </p:sp>
      <p:sp>
        <p:nvSpPr>
          <p:cNvPr id="47" name="Legenda anel"/>
          <p:cNvSpPr/>
          <p:nvPr/>
        </p:nvSpPr>
        <p:spPr>
          <a:xfrm>
            <a:off x="7620000" y="4813300"/>
            <a:ext cx="279400" cy="279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369A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8" name="Legenda dupla"/>
          <p:cNvSpPr/>
          <p:nvPr/>
        </p:nvSpPr>
        <p:spPr>
          <a:xfrm>
            <a:off x="7689850" y="4883150"/>
            <a:ext cx="139700" cy="1397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" name="Legenda Dupla"/>
          <p:cNvSpPr txBox="1"/>
          <p:nvPr/>
        </p:nvSpPr>
        <p:spPr>
          <a:xfrm>
            <a:off x="7975600" y="4826000"/>
            <a:ext cx="1397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400" b="0" i="0" dirty="0">
                <a:solidFill>
                  <a:srgbClr val="475569"/>
                </a:solidFill>
                <a:latin typeface="Arial"/>
              </a:rPr>
              <a:t>Dupla</a:t>
            </a:r>
          </a:p>
        </p:txBody>
      </p:sp>
      <p:sp>
        <p:nvSpPr>
          <p:cNvPr id="50" name="Legenda não raiz"/>
          <p:cNvSpPr/>
          <p:nvPr/>
        </p:nvSpPr>
        <p:spPr>
          <a:xfrm>
            <a:off x="8826500" y="4889500"/>
            <a:ext cx="127000" cy="127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Legenda Não é raiz"/>
          <p:cNvSpPr txBox="1"/>
          <p:nvPr/>
        </p:nvSpPr>
        <p:spPr>
          <a:xfrm>
            <a:off x="9042400" y="4826000"/>
            <a:ext cx="1397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400" b="0" i="0" dirty="0">
                <a:solidFill>
                  <a:srgbClr val="475569"/>
                </a:solidFill>
                <a:latin typeface="Arial"/>
              </a:rPr>
              <a:t>Não é raiz</a:t>
            </a:r>
          </a:p>
        </p:txBody>
      </p:sp>
      <p:sp>
        <p:nvSpPr>
          <p:cNvPr id="52" name="Nota conjugados"/>
          <p:cNvSpPr txBox="1"/>
          <p:nvPr/>
        </p:nvSpPr>
        <p:spPr>
          <a:xfrm>
            <a:off x="6350000" y="5257800"/>
            <a:ext cx="52324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pt-BR" sz="1400" b="0" i="0" dirty="0">
                <a:solidFill>
                  <a:srgbClr val="475569"/>
                </a:solidFill>
                <a:latin typeface="Arial"/>
              </a:rPr>
              <a:t>Como </a:t>
            </a:r>
            <a:r>
              <a:rPr lang="pt-BR" sz="1400" b="0" i="1" dirty="0">
                <a:solidFill>
                  <a:srgbClr val="0F172A"/>
                </a:solidFill>
                <a:latin typeface="Cambria Math"/>
              </a:rPr>
              <a:t>P</a:t>
            </a:r>
            <a:r>
              <a:rPr lang="pt-BR" sz="1400" b="0" i="0" dirty="0">
                <a:solidFill>
                  <a:srgbClr val="475569"/>
                </a:solidFill>
                <a:latin typeface="Arial"/>
              </a:rPr>
              <a:t> tem coeficientes reais, as raízes não reais aparecem em pares conjugados com a mesma multiplicidade. A simetria do diagrama em relação ao eixo real confirma isso.</a:t>
            </a:r>
          </a:p>
        </p:txBody>
      </p:sp>
    </p:spTree>
    <p:extLst>
      <p:ext uri="{BB962C8B-B14F-4D97-AF65-F5344CB8AC3E}">
        <p14:creationId xmlns:p14="http://schemas.microsoft.com/office/powerpoint/2010/main" val="38780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5350" y="5629275"/>
            <a:ext cx="27813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05350" y="5629275"/>
            <a:ext cx="2781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066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CBD5E1"/>
                </a:solidFill>
                <a:latin typeface="Arial"/>
              </a:rPr>
              <a:t>RESULTADO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86000"/>
            <a:ext cx="10668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F8FAFC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10668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Arial"/>
              </a:rPr>
              <a:t>Raízes Complexas Encontradas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1700" y="57912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Arial"/>
              </a:rPr>
              <a:t>2</a:t>
            </a:r>
            <a:r>
              <a:rPr sz="1500" b="0" i="0" u="none">
                <a:solidFill>
                  <a:srgbClr val="94A3B8"/>
                </a:solidFill>
                <a:latin typeface="Arial"/>
              </a:rPr>
              <a:t> do Caso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9500" y="57912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Arial"/>
              </a:rPr>
              <a:t>8</a:t>
            </a:r>
            <a:r>
              <a:rPr sz="1500" b="0" i="0" u="none">
                <a:solidFill>
                  <a:srgbClr val="94A3B8"/>
                </a:solidFill>
                <a:latin typeface="Arial"/>
              </a:rPr>
              <a:t> do Caso 2</a:t>
            </a:r>
          </a:p>
        </p:txBody>
      </p:sp>
    </p:spTree>
    <p:extLst>
      <p:ext uri="{BB962C8B-B14F-4D97-AF65-F5344CB8AC3E}">
        <p14:creationId xmlns:p14="http://schemas.microsoft.com/office/powerpoint/2010/main" val="193795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1854663050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927ED8-72A5-46B6-8D36-EFFB5326B86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588666d-ff58-4c60-a2f4-c8c809de462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336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Georgia</vt:lpstr>
      <vt:lpstr>Calibri</vt:lpstr>
      <vt:lpstr>Arial</vt:lpstr>
      <vt:lpstr>Cambria Math</vt:lpstr>
      <vt:lpstr>Office Theme [1791854663050]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Osvaldo Luiz Santos Pereira</cp:lastModifiedBy>
  <cp:revision>5</cp:revision>
  <dcterms:created xsi:type="dcterms:W3CDTF">2013-01-27T09:14:16Z</dcterms:created>
  <dcterms:modified xsi:type="dcterms:W3CDTF">2026-10-13T01:40:54Z</dcterms:modified>
  <cp:category/>
</cp:coreProperties>
</file>